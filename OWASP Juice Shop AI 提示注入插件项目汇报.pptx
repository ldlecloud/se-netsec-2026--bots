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大家好，欢迎参加本次项目汇报。今天，我们BOTS团队将向大家展示我们最新的成果——为OWASP Juice Shop开发的AI提示注入插件。随着大语言模型的普及，AI安全已成为网络安全领域的新焦点。我们的项目旨在填补主流安全教学平台在这一领域的空白，为广大学习者提供一个实战演练的环境。接下来，我将详细介绍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五个部分。首先，我将介绍项目的背景和目标。其次，我们会深入分析用户需求和产品价值。接着，展示我们的系统设计方案。然后，介绍我们的团队协作与项目规划。最后，对项目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首先来看项目概述。随着大语言模型的普及，AI安全问题，特别是提示注入攻击，已成为首要风险。然而，像OWASP Juice Shop这样的主流教学平台，其挑战库仍停留在传统Web漏洞，这就造成了市场空白。我们的项目正是为了填补这一空白，满足教学人员、开发者和CTF玩家等多方对AI安全实战学习的迫切需求。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项目目标非常明确：打造一个集成化的AI安全实战平台。具体来说，我们要实现核心挑战功能，提供可控的漏洞环境，并构建一个从学习到实践再到防御的完整闭环。通过NABCD模型分析，我们可以看到，这个项目精准地满足了市场需求，通过创新的插件方法，为不同用户群体带来了切实的收益，并具备独特的竞争优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进入第二部分，需求分析。我们通过表格详细梳理了四类核心用户：安全培训师、开发人员、CTF玩家以及Juice Shop生态用户。可以看到，安全培训师急需可复现的教学案例，而开发人员则希望深入理解攻击机制。CTF玩家寻求新颖挑战，而Juice Shop生态则存在功能空白。针对这些痛点，我们的项目提供了开箱即用的案例库、交互式实战挑战以及新颖的竞赛题目，精准解决了各方需求。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用户需求，我们采用功能四象限分析法对功能进行了优先级划分。第一象限“核心刚需”是支撑MVP的基础，包括AI对话和漏洞检测等，我们将集中资源优先完成。第二象限“重要增值”如代码展示能显著提升体验，也会在核心功能稳定后快速迭代。第三和第四象限的功能将根据资源情况选择性实现或延后，以确保项目按时交付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是系统设计。我们采用了基于MVC的模块化设计。这张类图展示了系统的核心架构。`AiChallengeController`作为核心控制器，协调着模拟LLM服务、注入检测器、积分服务等多个模块。这种设计使得系统各部分职责清晰，易于维护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这是我们设计的核心功能界面——AI提示注入实验室。整体采用暗黑风格，与Juice Shop保持一致。用户可以在左侧与AI助手进行交互，尝试注入攻击；右侧则提供了详细的挑战说明和代码审计功能。整个界面旨在提供一个直观、沉浸的学习环境。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核心挑战界面，我们还设计了辅助功能模块。比如这个实时威胁告警中心，它能模拟真实的攻击告警，增强平台的沉浸感。还有这个代码对比功能，它能直观地展示漏洞代码和修复后的安全代码，让用户不仅知其然，更知其所以然，这对于教学来说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还设计了系统管理后台和漏洞监测评估模块。这些界面展示了我们产品的完整性和未来的扩展潜力。通过这些管理功能，平台管理员可以更好地维护系统，而监测评估模块则为用户提供了一个更宏观的安全视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最后是我们的总览仪表盘。它整合了所有关键数据，如攻击趋势、挑战排行等，为用户提供了一个宏观的安全态势视图。这不仅提升了用户体验，也展示了我们产品的专业性和数据可视化能力。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项目规划非常清晰。我们采用敏捷开发模式，从第6周到第12周，分为计划设计、原型迭代、模块开发、设计迭代和最终交付等阶段。我们设立了三个关键里程碑，并使用GitHub的Issues和Milestones进行精细化管理，确保项目按计划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部分，项目规划。这一页我们重点介绍团队的具体分工和项目的工作分解结构。左侧展示了我们的团队分工，林夕炫负责后端核心和项目协调，杨茗曦专注数据库开发，陈泽浩负责前端交互，分工明确，职责清晰。右侧是我们的WBS结构图，我们将项目分为需求分析、设计、开发测试和部署上线四个阶段，并在开发阶段明确了每个人的任务模块，确保团队高效协作，按时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为了确保项目质量，我们制定了清晰、可量化的验收标准。无论是核心功能的响应时间、漏洞触发成功率，还是与主系统的集成兼容性，我们都设定了明确的指标。这些标准是我们项目成功交付的标尺。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最后，进行总结与展望。我们的项目成功填补了Juice Shop在AI安全领域的空白，构建了一个完整的教学闭环。展望未来，我们计划将插件提交给官方，扩展更多漏洞场景，并强化教学内容。我们相信，这只是一个开始，AI安全领域还有更多值得探索的内容。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4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5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OWASP Juice Shop AI 提示注入插件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30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 spc="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REPORT · 项目汇报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BOTS 安全团队 | 2026 年 04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59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2667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拥抱AI时代，填补安全教学空白，明确项目核心背景与目标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1905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2667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精准定位核心用户群体，深度剖析并定义产品核心价值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82000" y="1905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0" y="2032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0" y="2667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构建模块化、高扩展性的现代化技术架构，展示解决方案细节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318000"/>
            <a:ext cx="127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413000" y="444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413000" y="5080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制定详细的里程碑节点与资源配置计划，通过高效协作确保项目按期高质量交付。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318000"/>
            <a:ext cx="127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874000" y="444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总结展望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874000" y="5080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回顾项目阶段性核心成果，分析当前挑战，并对未来的产品迭代与发展方向进行展望。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项目概述：拥抱AI时代，填补安全教学空白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651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时代背景：LLM的崛起与安全挑战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2095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大语言模型(LLM)已成主流，但AI安全问题日益凸显，提示注入攻击被OWASP列为LLM应用的首要安全风险。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556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市场空白：主流教学平台的滞后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51000" y="4000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OWASP Juice Shop 等全球流行的Web安全教学平台，其挑战库仍停留在传统漏洞，缺少AI提示注入相关的实战模块。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1F2937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5334000"/>
            <a:ext cx="406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项目契机：填补空白，满足多方需求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5778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为安全讲师提供演示环境，为开发者提供练习平台，为CTF组织者提供新颖题型。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14919" r="14919" t="0" b="0"/>
          <a:stretch>
            <a:fillRect/>
          </a:stretch>
        </p:blipFill>
        <p:spPr>
          <a:xfrm rot="0" flipH="false" flipV="false">
            <a:off x="6223000" y="1397000"/>
            <a:ext cx="4953000" cy="4699000"/>
          </a:xfrm>
          <a:prstGeom prst="roundRect">
            <a:avLst>
              <a:gd name="adj" fmla="val 4324"/>
            </a:avLst>
          </a:prstGeom>
          <a:noFill/>
          <a:ln w="25400" cmpd="sng" cap="flat">
            <a:solidFill>
              <a:srgbClr val="8B5CF6">
                <a:alpha val="6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项目概述：项目目标与价值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项目核心目标 / Project Goals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4384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23622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核心功能实现：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添加全新的AI提示注入安全挑战场景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242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68400" y="32766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2004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可控漏洞环境：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提供内置逻辑漏洞的AI客服助手端点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9624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68400" y="4114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4038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完整学习闭环：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支持演示、攻击、审计与修复验证全流程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006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68400" y="4953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778000" y="48768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无缝系统集成：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与Juice Shop积分、排行榜系统深度融合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638800"/>
            <a:ext cx="4699000" cy="609600"/>
          </a:xfrm>
          <a:prstGeom prst="roundRect">
            <a:avLst>
              <a:gd name="adj" fmla="val 16666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168400" y="57404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778000" y="5689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教学资源丰富：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提供详尽的防御指南与代码示例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1714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NABCD 商业价值模型解析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286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2413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0" y="2413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239000" y="2362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市场需求 (Need)：</a:t>
            </a: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填补Juice Shop在AI安全实战演练场景上的空白。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3175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04000" y="3302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04000" y="3302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239000" y="3251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实现方案 (Approach)：</a:t>
            </a: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开发独立插件，植入漏洞端点，提供代码对比学习。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4064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04000" y="4191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04000" y="4191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239000" y="4140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核心收益 (Benefit)：</a:t>
            </a: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赋能开发者与CTF玩家，显著提升平台教学竞争力。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495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604000" y="5080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604000" y="5080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239000" y="5029200"/>
            <a:ext cx="381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 (Competitor)：</a:t>
            </a: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深度集成无需切换环境，提供复合的逻辑漏洞挑战。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477000" y="5842000"/>
            <a:ext cx="4699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604000" y="58801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604000" y="5880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7112000" y="5842000"/>
            <a:ext cx="3937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交付计划：提交PR至官方仓库，共享给全球安全社区。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需求分析：精准定位用户，定义产品价值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524000"/>
          <a:ext cx="6350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540000"/>
                <a:gridCol w="2540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用户角色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核心痛点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项目提供的价值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安全培训师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缺乏现成的、可复现的LLM安全教学案例。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提供开箱即用的LLM安全教学案例库，可直接用于课堂教学与实践演示。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开发人员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对提示注入等LLM攻击的底层机制理解不深。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通过交互式实战挑战，帮助开发者深入理解LLM攻击原理，学习防御策略。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CTF玩家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寻求新颖、前沿的AI安全挑战类型。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提供一系列精心设计的AI安全挑战，拓展CTF竞赛的边界。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Juice Shop生态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在LLM安全领域存在功能空白。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填补Juice Shop在LLM安全领域的空白，巩固其行业领先地位。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需求分析：构建核心与扩展功能矩阵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524000"/>
          <a:ext cx="10160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048000"/>
                <a:gridCol w="4064000"/>
                <a:gridCol w="1524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象限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本项目功能举例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第一象限：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核心刚需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必须实现，直接支撑MVP运行的基础功能。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AI对话交互、提示注入检测、积分发放、用户进度记录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最高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(Must)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第二象限：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重要增值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非核心但直接提升教学效果与用户体验的功能。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漏洞/修复代码展示、攻击风险等级反馈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(Should)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第三象限：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锦上添花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优化体验、但不影响核心流程的辅助功能。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攻击Payload示例库、挑战知识点讲解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(Could)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第四象限：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可延期功能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与核心目标关联弱，或超出本次迭代范围的功能。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多语言支持、高级复合漏洞场景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b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b="true" i="false" strike="noStrike" u="none" sz="1200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(Won’t)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系统设计：基于MVC的模块化设计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系统设计严格遵循模块化与单一职责原则，以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为核心调度中心，统筹各功能模块协作，构建高内聚、低耦合的架构体系。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22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413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3876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768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业务逻辑与模块调度中枢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7465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7211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注入攻击检测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4102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PromptInjectionDetector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实时分析用户输入风险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889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80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0546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漏洞代码服务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5435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VulnerableCodeService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提供漏洞环境与修复代码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2222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619500" y="24130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4191000" y="23876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模拟服务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191000" y="2768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LlmMockService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构建存在特定漏洞的模型环境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29000" y="35560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619500" y="37465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191000" y="37211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积分交互服务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191000" y="41021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ChallengeScoreService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对接主系统，管理挑战积分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29000" y="4889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3619500" y="5080000"/>
            <a:ext cx="457200" cy="457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191000" y="50546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进度持久化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191000" y="54356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UserProgressRecord</a:t>
            </a: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存储用户挑战的历史状态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23000" y="1968500"/>
            <a:ext cx="4826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 w="25400" cmpd="sng" cap="flat">
            <a:solidFill>
              <a:srgbClr val="8B5CF6">
                <a:alpha val="70000"/>
              </a:srgbClr>
            </a:solidFill>
            <a:prstDash val="solid"/>
            <a:round/>
          </a:ln>
          <a:effectLst>
            <a:outerShdw dir="2700000" dist="76200" blurRad="254000" algn="tl" rotWithShape="false">
              <a:srgbClr val="000000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rcRect l="0" r="0" t="12435" b="12435"/>
          <a:stretch>
            <a:fillRect/>
          </a:stretch>
        </p:blipFill>
        <p:spPr>
          <a:xfrm rot="0" flipH="false" flipV="false">
            <a:off x="6350000" y="2095500"/>
            <a:ext cx="4572000" cy="393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4572000" cy="4826000"/>
          </a:xfrm>
          <a:prstGeom prst="roundRect">
            <a:avLst>
              <a:gd name="adj" fmla="val 4444"/>
            </a:avLst>
          </a:prstGeom>
          <a:solidFill>
            <a:srgbClr val="1E2937">
              <a:alpha val="9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设计理念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采用现代化暗黑风格UI，视觉上与Juice Shop平台基调保持高度统一。利用高饱和度的科技紫作为强调色，直观引导用户关注AI安全相关的核心交互区域，营造沉浸的安全实验氛围。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核心功能：AI提示注入实验室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1910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4445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05000" y="43434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助手交互模拟器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05000" y="4699000"/>
            <a:ext cx="292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左侧核心区域，支持用户输入任意Prompt，实时模拟AI模型的回复与响应过程。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3340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5588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54864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挑战说明 &amp; 代码审计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905000" y="5842000"/>
            <a:ext cx="292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右侧信息面板，提供当前关卡的攻击目标提示，并集成代码审计窗口辅助分析。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0" y="1524000"/>
            <a:ext cx="5715000" cy="4826000"/>
          </a:xfrm>
          <a:prstGeom prst="roundRect">
            <a:avLst>
              <a:gd name="adj" fmla="val 4210"/>
            </a:avLst>
          </a:prstGeom>
          <a:solidFill>
            <a:srgbClr val="000000">
              <a:alpha val="40000"/>
            </a:srgbClr>
          </a:solidFill>
          <a:ln w="25400" cmpd="sng" cap="flat">
            <a:solidFill>
              <a:srgbClr val="8B5CF6">
                <a:alpha val="70000"/>
              </a:srgbClr>
            </a:solidFill>
            <a:prstDash val="solid"/>
            <a:round/>
          </a:ln>
          <a:effectLst>
            <a:outerShdw dir="2700000" dist="0" blurRad="254000" algn="tl" rotWithShape="false">
              <a:srgbClr val="8B5CF6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22507" r="22507" t="0" b="0"/>
          <a:stretch>
            <a:fillRect/>
          </a:stretch>
        </p:blipFill>
        <p:spPr>
          <a:xfrm rot="0" flipH="false" flipV="false">
            <a:off x="5842000" y="1651000"/>
            <a:ext cx="5461000" cy="4572000"/>
          </a:xfrm>
          <a:prstGeom prst="roundRect">
            <a:avLst>
              <a:gd name="adj" fmla="val 3333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E1E28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2183" r="12183" t="0" b="0"/>
          <a:stretch>
            <a:fillRect/>
          </a:stretch>
        </p:blipFill>
        <p:spPr>
          <a:xfrm rot="0" flipH="false" flipV="false">
            <a:off x="1016000" y="1778000"/>
            <a:ext cx="4699000" cy="2921000"/>
          </a:xfrm>
          <a:prstGeom prst="roundRect">
            <a:avLst>
              <a:gd name="adj" fmla="val 3478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953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实时威胁告警中心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461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模拟实时威胁情报与处置响应流程，将真实的攻击数据可视化，显著提升平台操作的沉浸感和场景真实感。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E1E28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13317" r="13317" t="0" b="0"/>
          <a:stretch>
            <a:fillRect/>
          </a:stretch>
        </p:blipFill>
        <p:spPr>
          <a:xfrm rot="0" flipH="false" flipV="false">
            <a:off x="6477000" y="1778000"/>
            <a:ext cx="4699000" cy="2921000"/>
          </a:xfrm>
          <a:prstGeom prst="roundRect">
            <a:avLst>
              <a:gd name="adj" fmla="val 3478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6477000" y="4953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漏洞代码与修复代码对比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5461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直观展示漏洞所在的关键代码行与安全的修复方案，帮助用户从底层逻辑深入理解防御原理与代码审计技巧。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1480" r="11480" t="0" b="0"/>
          <a:stretch>
            <a:fillRect/>
          </a:stretch>
        </p:blipFill>
        <p:spPr>
          <a:xfrm rot="0" flipH="false" flipV="false">
            <a:off x="1016000" y="1778000"/>
            <a:ext cx="4699000" cy="2794000"/>
          </a:xfrm>
          <a:prstGeom prst="roundRect">
            <a:avLst>
              <a:gd name="adj" fmla="val 363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4762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系统管理与审计控制台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270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提供用户、角色及审计日志的管理界面，直观展示平台的权限管控能力与数据完整性，为系统运维提供坚实的可扩展性支撑。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11116" r="11116" t="0" b="0"/>
          <a:stretch>
            <a:fillRect/>
          </a:stretch>
        </p:blipFill>
        <p:spPr>
          <a:xfrm rot="0" flipH="false" flipV="false">
            <a:off x="6477000" y="1778000"/>
            <a:ext cx="4699000" cy="2794000"/>
          </a:xfrm>
          <a:prstGeom prst="roundRect">
            <a:avLst>
              <a:gd name="adj" fmla="val 3636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6477000" y="4762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漏洞监测与安全评估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5270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集成模拟扫描任务管理与深度风险分析报告，可视化呈现安全态势，充分展示了安全检测插件的灵活配置与潜在扩展能力。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4318000" cy="4445000"/>
          </a:xfrm>
          <a:prstGeom prst="roundRect">
            <a:avLst>
              <a:gd name="adj" fmla="val 3529"/>
            </a:avLst>
          </a:prstGeom>
          <a:solidFill>
            <a:srgbClr val="1F2937">
              <a:alpha val="8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dir="2700000" dist="50800" blurRad="2032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32000"/>
            <a:ext cx="317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 Security 总览仪表盘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3810000" cy="12700"/>
          </a:xfrm>
          <a:prstGeom prst="roundRect">
            <a:avLst>
              <a:gd name="adj" fmla="val 0"/>
            </a:avLst>
          </a:prstGeom>
          <a:solidFill>
            <a:srgbClr val="8B5CF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1778000" cy="406400"/>
          </a:xfrm>
          <a:prstGeom prst="roundRect">
            <a:avLst>
              <a:gd name="adj" fmla="val 18750"/>
            </a:avLst>
          </a:prstGeom>
          <a:solidFill>
            <a:srgbClr val="8B5CF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全局安全态势监控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21000" y="3175000"/>
            <a:ext cx="1778000" cy="406400"/>
          </a:xfrm>
          <a:prstGeom prst="roundRect">
            <a:avLst>
              <a:gd name="adj" fmla="val 18750"/>
            </a:avLst>
          </a:prstGeom>
          <a:solidFill>
            <a:srgbClr val="8B5CF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注入攻击趋势分析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9370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整合核心安全数据，将复杂的威胁情报转化为可视化图表。提供一站式监控体验，让管理员能直观地掌握系统当前的健康状态与潜在风险。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207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5207000"/>
            <a:ext cx="114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99.4%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防御成功率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413000" y="5207000"/>
            <a:ext cx="114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128+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实时连接数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1651000"/>
            <a:ext cx="6096000" cy="4445000"/>
          </a:xfrm>
          <a:prstGeom prst="roundRect">
            <a:avLst>
              <a:gd name="adj" fmla="val 3428"/>
            </a:avLst>
          </a:prstGeom>
          <a:solidFill>
            <a:srgbClr val="000000">
              <a:alpha val="30000"/>
            </a:srgbClr>
          </a:solidFill>
          <a:ln w="12700" cmpd="sng" cap="flat">
            <a:solidFill>
              <a:srgbClr val="8B5CF6">
                <a:alpha val="60000"/>
              </a:srgbClr>
            </a:solidFill>
            <a:prstDash val="solid"/>
            <a:round/>
          </a:ln>
          <a:effectLst>
            <a:outerShdw dir="2700000" dist="76200" blurRad="254000" algn="tl" rotWithShape="false">
              <a:srgbClr val="000000">
                <a:alpha val="4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18076" r="18076" t="0" b="0"/>
          <a:stretch>
            <a:fillRect/>
          </a:stretch>
        </p:blipFill>
        <p:spPr>
          <a:xfrm rot="0" flipH="false" flipV="false">
            <a:off x="5524500" y="1841500"/>
            <a:ext cx="5715000" cy="4064000"/>
          </a:xfrm>
          <a:prstGeom prst="roundRect">
            <a:avLst>
              <a:gd name="adj" fmla="val 250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项目规划：时间线与里程碑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334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项目总体进度安排 (敏捷开发)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260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6 - 7 周 | 计划与设计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603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制定团队计划，输出需求规格说明书，完成产品原型设计 V1.0。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2159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2260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8 周 | 原型迭代 (里程碑)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2603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完成环境搭建与架构设计，进行原型迭代展示汇报。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556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3657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9 - 10 周 | 模块开发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400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小组并行开发核心功能模块，定期进行代码审查与同步。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3556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83000" y="3657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10 周 | 设计迭代 (里程碑)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83000" y="400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根据开发进度与测试反馈，对交互设计进行深度优化迭代。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953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43000" y="5054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11 - 12 周 | 复审与总结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43000" y="5397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全流程项目复审，输出事后分析报告，完成团队开发总结。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556000" y="4953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83000" y="50546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12 周 | 最终交付 (里程碑)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683000" y="5397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提交完整项目代码与文档，进行最终项目成果展示汇报。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1397000"/>
            <a:ext cx="5080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0" y="1587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GitHub 数字化管理实践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2159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GitHub 的 Issues 追踪每日任务细节，利用 Milestones 管理关键阶段里程碑，实现开发进度的可视化、透明化与可追溯。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rcRect l="1332" r="1332" t="0" b="0"/>
          <a:stretch>
            <a:fillRect/>
          </a:stretch>
        </p:blipFill>
        <p:spPr>
          <a:xfrm rot="0" flipH="false" flipV="false">
            <a:off x="6604000" y="3048000"/>
            <a:ext cx="2159000" cy="1778000"/>
          </a:xfrm>
          <a:prstGeom prst="roundRect">
            <a:avLst>
              <a:gd name="adj" fmla="val 7142"/>
            </a:avLst>
          </a:prstGeom>
          <a:noFill/>
          <a:ln w="12700" cmpd="sng" cap="flat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28" id="28"/>
          <p:cNvSpPr/>
          <p:nvPr/>
        </p:nvSpPr>
        <p:spPr>
          <a:xfrm rot="0" flipH="false" flipV="false">
            <a:off x="6604000" y="4953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Issues 任务看板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rcRect l="12709" r="12709" t="0" b="0"/>
          <a:stretch>
            <a:fillRect/>
          </a:stretch>
        </p:blipFill>
        <p:spPr>
          <a:xfrm rot="0" flipH="false" flipV="false">
            <a:off x="8890000" y="3048000"/>
            <a:ext cx="2159000" cy="1778000"/>
          </a:xfrm>
          <a:prstGeom prst="roundRect">
            <a:avLst>
              <a:gd name="adj" fmla="val 7142"/>
            </a:avLst>
          </a:prstGeom>
          <a:noFill/>
          <a:ln w="12700" cmpd="sng" cap="flat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30" id="30"/>
          <p:cNvSpPr/>
          <p:nvPr/>
        </p:nvSpPr>
        <p:spPr>
          <a:xfrm rot="0" flipH="false" flipV="false">
            <a:off x="8890000" y="4953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Milestones 里程碑管理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项目规划：团队介绍与协作模式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397000"/>
            <a:ext cx="5334000" cy="5080000"/>
          </a:xfrm>
          <a:prstGeom prst="roundRect">
            <a:avLst>
              <a:gd name="adj" fmla="val 3000"/>
            </a:avLst>
          </a:prstGeom>
          <a:solidFill>
            <a:srgbClr val="1E1E28">
              <a:alpha val="85000"/>
            </a:srgbClr>
          </a:solidFill>
          <a:ln w="12700" cmpd="sng" cap="flat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团队分工与职责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4826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林夕炫 (组长 / 后端)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负责后端核心模块开发、需求对接、接口联调、项目整体协调。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杨茗曦 (数据库开发)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负责数据层设计与开发、数据读写接口实现、数据测试与优化。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陈泽浩 (前端开发)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负责界面开发与交互、前后端接口联调、原型迭代与优化。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397000"/>
            <a:ext cx="5334000" cy="5080000"/>
          </a:xfrm>
          <a:prstGeom prst="roundRect">
            <a:avLst>
              <a:gd name="adj" fmla="val 3000"/>
            </a:avLst>
          </a:prstGeom>
          <a:solidFill>
            <a:srgbClr val="1E1E28">
              <a:alpha val="85000"/>
            </a:srgbClr>
          </a:solidFill>
          <a:ln w="12700" cmpd="sng" cap="flat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1651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详细工作分解结构 (WBS)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159000"/>
            <a:ext cx="4826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需求分析阶段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业务调研与用户画像分析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需求文档编写与评审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设计阶段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架构设计 (前后端分离)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数据库表结构设计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UI/UX 原型设计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开发与测试阶段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 API 开发 (林夕炫)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数据库实现 (杨茗曦)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前端界面开发 (陈泽浩)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单元测试与集成测试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部署上线阶段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服务器配置与环境搭建</a:t>
            </a:r>
            <a:r>
              <a:rPr lang="en-US" b="false" i="false" strike="noStrike" u="none" sz="1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灰度发布与监控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项目规划：可量化的验收标准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A1C23">
              <a:alpha val="90000"/>
            </a:srgbClr>
          </a:solidFill>
          <a:ln w="12700" cmpd="sng" cap="flat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0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核心功能验收标准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13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25400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AI助手界面响应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6500" y="2921000"/>
            <a:ext cx="438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页面加载正常无报错，交互响应时间需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≤ 1秒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29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429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6500" y="35560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漏洞场景触发率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06500" y="3937000"/>
            <a:ext cx="438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基础注入Payload需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100% 成功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触发，并正确返回 `flag`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45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445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06500" y="45720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积分与状态一致性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06500" y="4953000"/>
            <a:ext cx="4381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挑战成功后积分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100% 正确增加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，且无重复计分Bug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461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461000"/>
            <a:ext cx="50800" cy="635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206500" y="5562600"/>
            <a:ext cx="4381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教学内容展示：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挑战说明清晰易懂，代码片段渲染格式正常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A1C23">
              <a:alpha val="90000"/>
            </a:srgbClr>
          </a:solidFill>
          <a:ln w="12700" cmpd="sng" cap="flat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778000"/>
            <a:ext cx="457200" cy="457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112000" y="180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集成与兼容性验收标准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241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241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67500" y="2565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插件部署集成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67500" y="294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插件可通过标准扩展流程，无缝部署到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最新版 Juice Shop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环境中运行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368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368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67500" y="3835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核心系统对接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67500" y="421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与后端积分榜、用户进度记录系统实现</a:t>
            </a:r>
            <a:r>
              <a:rPr lang="en-US" b="true" i="false" strike="noStrike" u="none" sz="12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数据实时互通</a:t>
            </a: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，无接口报错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77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495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667500" y="5105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多环境兼容性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667500" y="54864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支持在标准 Docker 容器中稳定运行，并完美兼容 Chrome/Firefox 等主流浏览器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总结与展望：回顾成果，展望未来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4826000" cy="4191000"/>
          </a:xfrm>
          <a:prstGeom prst="roundRect">
            <a:avLst>
              <a:gd name="adj" fmla="val 3636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8B5CF6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79500" y="1968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SUMMARY / 项目总结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540000"/>
            <a:ext cx="4191000" cy="25400"/>
          </a:xfrm>
          <a:prstGeom prst="roundRect">
            <a:avLst>
              <a:gd name="adj" fmla="val 0"/>
            </a:avLst>
          </a:prstGeom>
          <a:solidFill>
            <a:srgbClr val="8B5C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921000"/>
            <a:ext cx="419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本项目成功地将前沿的AI安全风险引入主流Web安全教学平台，构建了一个集“学习-实践-防御”于一体的完整教学闭环。</a:t>
            </a: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这不仅为广大安全学习者提供了接触AI安全的宝贵实战资源，更充分体现了我们团队在安全研究与工程落地方面的综合技术能力。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1651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96000" y="1905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1905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提交上游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8000" y="2413000"/>
            <a:ext cx="146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将插件提交至Juice Shop官方仓库，争取成为官方标准功能。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763000" y="1651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017000" y="1905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779000" y="1905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扩展漏洞场景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779000" y="2413000"/>
            <a:ext cx="146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引入更多类型的提示注入变体，增加攻防挑战的深度与广度。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842000" y="3810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96000" y="4064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4064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强化教学内容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4572000"/>
            <a:ext cx="146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开发配套视频教程与交互式学习路径，降低用户上手门槛。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763000" y="3810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mpd="sng" cap="flat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17000" y="40640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779000" y="4064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4572000"/>
            <a:ext cx="1460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持续优化后端服务性能，确保在高并发场景下的系统稳定性。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048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699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