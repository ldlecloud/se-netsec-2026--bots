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2.svg" ContentType="image/svg+xml"/>
  <Override PartName="/ppt/media/image34.svg" ContentType="image/svg+xml"/>
  <Override PartName="/ppt/media/image4.svg" ContentType="image/svg+xml"/>
  <Override PartName="/ppt/media/image41.svg" ContentType="image/svg+xml"/>
  <Override PartName="/ppt/media/image46.svg" ContentType="image/svg+xml"/>
  <Override PartName="/ppt/media/image48.svg" ContentType="image/svg+xml"/>
  <Override PartName="/ppt/media/image50.svg" ContentType="image/svg+xml"/>
  <Override PartName="/ppt/media/image52.svg" ContentType="image/svg+xml"/>
  <Override PartName="/ppt/media/image5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大家好，欢迎参加本次项目汇报。今天，我们BOTS团队将向大家展示我们最新的成果——为OWASP Juice Shop开发的AI提示注入插件。随着大语言模型的普及，AI安全已成为网络安全领域的新焦点。我们的项目旨在填补主流安全教学平台在这一领域的空白，为广大学习者提供一个实战演练的环境。接下来，我将详细介绍我们的项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汇报将分为五个部分。首先，我将介绍项目的背景和目标。其次，我们会深入分析用户需求和产品价值。接着，展示我们的系统设计方案。然后，介绍我们的团队协作与项目规划。最后，对项目进行总结并展望未来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首先来看项目概述。随着大语言模型的普及，AI安全问题，特别是提示注入攻击，已成为首要风险。然而，像OWASP Juice Shop这样的主流教学平台，其挑战库仍停留在传统Web漏洞，这就造成了市场空白。我们的项目正是为了填补这一空白，满足教学人员、开发者和CTF玩家等多方对AI安全实战学习的迫切需求。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项目目标非常明确：打造一个集成化的AI安全实战平台。具体来说，我们要实现核心挑战功能，提供可控的漏洞环境，并构建一个从学习到实践再到防御的完整闭环。通过NABCD模型分析，我们可以看到，这个项目精准地满足了市场需求，通过创新的插件方法，为不同用户群体带来了切实的收益，并具备独特的竞争优势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进入第二部分，需求分析。我们通过表格详细梳理了四类核心用户：安全培训师、开发人员、CTF玩家以及Juice Shop生态用户。可以看到，安全培训师急需可复现的教学案例，而开发人员则希望深入理解攻击机制。CTF玩家寻求新颖挑战，而Juice Shop生态则存在功能空白。针对这些痛点，我们的项目提供了开箱即用的案例库、交互式实战挑战以及新颖的竞赛题目，精准解决了各方需求。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基于用户需求，我们采用功能四象限分析法对功能进行了优先级划分。第一象限“核心刚需”是支撑MVP的基础，包括AI对话和漏洞检测等，我们将集中资源优先完成。第二象限“重要增值”如代码展示能显著提升体验，也会在核心功能稳定后快速迭代。第三和第四象限的功能将根据资源情况选择性实现或延后，以确保项目按时交付核心价值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部分是系统设计。我们采用了基于MVC的模块化设计。这张类图展示了系统的核心架构。`AiChallengeController`作为核心控制器，协调着模拟LLM服务、注入检测器、积分服务等多个模块。这种设计使得系统各部分职责清晰，易于维护和扩展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这是我们设计的核心功能界面——AI提示注入实验室。整体采用暗黑风格，与Juice Shop保持一致。用户可以在左侧与AI助手进行交互，尝试注入攻击；右侧则提供了详细的挑战说明和代码审计功能。整个界面旨在提供一个直观、沉浸的学习环境。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除了核心挑战界面，我们还设计了辅助功能模块。比如这个实时威胁告警中心，它能模拟真实的攻击告警，增强平台的沉浸感。还有这个代码对比功能，它能直观地展示漏洞代码和修复后的安全代码，让用户不仅知其然，更知其所以然，这对于教学来说至关重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还设计了系统管理后台和漏洞监测评估模块。这些界面展示了我们产品的完整性和未来的扩展潜力。通过这些管理功能，平台管理员可以更好地维护系统，而监测评估模块则为用户提供了一个更宏观的安全视角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最后是我们的总览仪表盘。它整合了所有关键数据，如攻击趋势、挑战排行等，为用户提供了一个宏观的安全态势视图。这不仅提升了用户体验，也展示了我们产品的专业性和数据可视化能力。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项目规划非常清晰。我们采用敏捷开发模式，从第6周到第12周，分为计划设计、原型迭代、模块开发、设计迭代和最终交付等阶段。我们设立了三个关键里程碑，并使用GitHub的Issues和Milestones进行精细化管理，确保项目按计划推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四部分，项目规划。这一页我们重点介绍团队的具体分工和项目的工作分解结构。左侧展示了我们的团队分工，林夕炫负责后端核心和项目协调，杨茗曦专注数据库开发，陈泽浩负责前端交互，分工明确，职责清晰。右侧是我们的WBS结构图，我们将项目分为需求分析、设计、开发测试和部署上线四个阶段，并在开发阶段明确了每个人的任务模块，确保团队高效协作，按时交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为了确保项目质量，我们制定了清晰、可量化的验收标准。无论是核心功能的响应时间、漏洞触发成功率，还是与主系统的集成兼容性，我们都设定了明确的指标。这些标准是我们项目成功交付的标尺。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最后，进行总结与展望。我们的项目成功填补了Juice Shop在AI安全领域的空白，构建了一个完整的教学闭环。展望未来，我们计划将插件提交给官方，扩展更多漏洞场景，并强化教学内容。我们相信，这只是一个开始，AI安全领域还有更多值得探索的内容。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我的汇报到此结束，感谢大家的聆听。现在是问答环节，欢迎大家提问。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9.jpeg"/><Relationship Id="rId7" Type="http://schemas.openxmlformats.org/officeDocument/2006/relationships/image" Target="../media/image8.svg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0" Type="http://schemas.openxmlformats.org/officeDocument/2006/relationships/notesSlide" Target="../notesSlides/notesSlide3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.svg"/><Relationship Id="rId8" Type="http://schemas.openxmlformats.org/officeDocument/2006/relationships/image" Target="../media/image16.png"/><Relationship Id="rId7" Type="http://schemas.openxmlformats.org/officeDocument/2006/relationships/image" Target="../media/image15.svg"/><Relationship Id="rId6" Type="http://schemas.openxmlformats.org/officeDocument/2006/relationships/image" Target="../media/image14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3" Type="http://schemas.openxmlformats.org/officeDocument/2006/relationships/notesSlide" Target="../notesSlides/notesSlide4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19.svg"/><Relationship Id="rId10" Type="http://schemas.openxmlformats.org/officeDocument/2006/relationships/image" Target="../media/image18.png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7.svg"/><Relationship Id="rId8" Type="http://schemas.openxmlformats.org/officeDocument/2006/relationships/image" Target="../media/image26.png"/><Relationship Id="rId7" Type="http://schemas.openxmlformats.org/officeDocument/2006/relationships/image" Target="../media/image25.svg"/><Relationship Id="rId6" Type="http://schemas.openxmlformats.org/officeDocument/2006/relationships/image" Target="../media/image24.png"/><Relationship Id="rId5" Type="http://schemas.openxmlformats.org/officeDocument/2006/relationships/image" Target="../media/image23.svg"/><Relationship Id="rId4" Type="http://schemas.openxmlformats.org/officeDocument/2006/relationships/image" Target="../media/image22.png"/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6" Type="http://schemas.openxmlformats.org/officeDocument/2006/relationships/notesSlide" Target="../notesSlides/notesSlide7.xml"/><Relationship Id="rId15" Type="http://schemas.openxmlformats.org/officeDocument/2006/relationships/slideLayout" Target="../slideLayouts/slideLayout12.xml"/><Relationship Id="rId14" Type="http://schemas.openxmlformats.org/officeDocument/2006/relationships/image" Target="../media/image30.png"/><Relationship Id="rId13" Type="http://schemas.openxmlformats.org/officeDocument/2006/relationships/image" Target="../media/image29.svg"/><Relationship Id="rId12" Type="http://schemas.openxmlformats.org/officeDocument/2006/relationships/image" Target="../media/image28.png"/><Relationship Id="rId11" Type="http://schemas.openxmlformats.org/officeDocument/2006/relationships/image" Target="../media/image8.svg"/><Relationship Id="rId10" Type="http://schemas.openxmlformats.org/officeDocument/2006/relationships/image" Target="../media/image7.png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35.png"/><Relationship Id="rId5" Type="http://schemas.openxmlformats.org/officeDocument/2006/relationships/image" Target="../media/image34.svg"/><Relationship Id="rId4" Type="http://schemas.openxmlformats.org/officeDocument/2006/relationships/image" Target="../media/image33.png"/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42.png"/><Relationship Id="rId3" Type="http://schemas.openxmlformats.org/officeDocument/2006/relationships/image" Target="../media/image41.svg"/><Relationship Id="rId2" Type="http://schemas.openxmlformats.org/officeDocument/2006/relationships/image" Target="../media/image40.png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4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46.svg"/><Relationship Id="rId4" Type="http://schemas.openxmlformats.org/officeDocument/2006/relationships/image" Target="../media/image45.png"/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54.svg"/><Relationship Id="rId8" Type="http://schemas.openxmlformats.org/officeDocument/2006/relationships/image" Target="../media/image53.png"/><Relationship Id="rId7" Type="http://schemas.openxmlformats.org/officeDocument/2006/relationships/image" Target="../media/image52.svg"/><Relationship Id="rId6" Type="http://schemas.openxmlformats.org/officeDocument/2006/relationships/image" Target="../media/image51.png"/><Relationship Id="rId5" Type="http://schemas.openxmlformats.org/officeDocument/2006/relationships/image" Target="../media/image50.svg"/><Relationship Id="rId4" Type="http://schemas.openxmlformats.org/officeDocument/2006/relationships/image" Target="../media/image49.png"/><Relationship Id="rId3" Type="http://schemas.openxmlformats.org/officeDocument/2006/relationships/image" Target="../media/image48.svg"/><Relationship Id="rId2" Type="http://schemas.openxmlformats.org/officeDocument/2006/relationships/image" Target="../media/image47.png"/><Relationship Id="rId11" Type="http://schemas.openxmlformats.org/officeDocument/2006/relationships/notesSlide" Target="../notesSlides/notesSlide15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032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5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OWASP Juice Shop AI 提示注入插件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302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 spc="400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PROJECT REPORT · 项目汇报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4572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 spc="2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BOTS 安全团队 | 2026 年 04 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目录 CONTENTS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302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8B5CF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905000"/>
            <a:ext cx="101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2159000" y="2032000"/>
            <a:ext cx="165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项目概述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2159000" y="2667000"/>
            <a:ext cx="165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E5E7EB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拥抱AI时代，填补安全教学空白，明确项目核心背景与目标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445000" y="1651000"/>
            <a:ext cx="3302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8B5CF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4699000" y="1905000"/>
            <a:ext cx="101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842000" y="2032000"/>
            <a:ext cx="165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需求分析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5842000" y="2667000"/>
            <a:ext cx="165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E5E7EB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精准定位核心用户群体，深度剖析并定义产品核心价值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128000" y="1651000"/>
            <a:ext cx="3302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8B5CF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8382000" y="1905000"/>
            <a:ext cx="101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9525000" y="2032000"/>
            <a:ext cx="165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系统设计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9525000" y="2667000"/>
            <a:ext cx="165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E5E7EB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构建模块化、高扩展性的现代化技术架构，展示解决方案细节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064000"/>
            <a:ext cx="5207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8B5CF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1016000" y="4318000"/>
            <a:ext cx="127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6000" b="1" i="0" u="none" strike="noStrike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2413000" y="44450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项目规划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2413000" y="5080000"/>
            <a:ext cx="330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E5E7EB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制定详细的里程碑节点与资源配置计划，通过高效协作确保项目按期高质量交付。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223000" y="4064000"/>
            <a:ext cx="5207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8B5CF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477000" y="4318000"/>
            <a:ext cx="127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6000" b="1" i="0" u="none" strike="noStrike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874000" y="44450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总结展望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874000" y="5080000"/>
            <a:ext cx="330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E5E7EB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回顾项目阶段性核心成果，分析当前挑战，并对未来的产品迭代与发展方向进行展望。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 项目概述：拥抱AI时代，填补安全教学空白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5207000" cy="1778000"/>
          </a:xfrm>
          <a:prstGeom prst="roundRect">
            <a:avLst>
              <a:gd name="adj" fmla="val 8571"/>
            </a:avLst>
          </a:prstGeom>
          <a:solidFill>
            <a:srgbClr val="1F2937">
              <a:alpha val="80000"/>
            </a:srgbClr>
          </a:solidFill>
          <a:ln w="12700" cap="flat" cmpd="sng">
            <a:solidFill>
              <a:srgbClr val="8B5CF6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651000"/>
            <a:ext cx="508000" cy="508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651000" y="1651000"/>
            <a:ext cx="406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A78BFA"/>
                </a:solidFill>
                <a:latin typeface="Noto Sans SC"/>
                <a:ea typeface="Noto Sans SC"/>
                <a:cs typeface="Noto Sans SC"/>
                <a:sym typeface="Noto Sans SC"/>
              </a:rPr>
              <a:t>时代背景：LLM的崛起与安全挑战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651000" y="2095500"/>
            <a:ext cx="406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大语言模型(LLM)已成主流，但AI安全问题日益凸显，提示注入攻击被OWASP列为LLM应用的首要安全风险。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3302000"/>
            <a:ext cx="5207000" cy="1778000"/>
          </a:xfrm>
          <a:prstGeom prst="roundRect">
            <a:avLst>
              <a:gd name="adj" fmla="val 8571"/>
            </a:avLst>
          </a:prstGeom>
          <a:solidFill>
            <a:srgbClr val="1F2937">
              <a:alpha val="80000"/>
            </a:srgbClr>
          </a:solidFill>
          <a:ln w="12700" cap="flat" cmpd="sng">
            <a:solidFill>
              <a:srgbClr val="8B5CF6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556000"/>
            <a:ext cx="508000" cy="508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651000" y="3556000"/>
            <a:ext cx="406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A78BFA"/>
                </a:solidFill>
                <a:latin typeface="Noto Sans SC"/>
                <a:ea typeface="Noto Sans SC"/>
                <a:cs typeface="Noto Sans SC"/>
                <a:sym typeface="Noto Sans SC"/>
              </a:rPr>
              <a:t>市场空白：主流教学平台的滞后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651000" y="4000500"/>
            <a:ext cx="406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OWASP Juice Shop 等全球流行的Web安全教学平台，其挑战库仍停留在传统漏洞，缺少AI提示注入相关的实战模块。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5080000"/>
            <a:ext cx="5207000" cy="1524000"/>
          </a:xfrm>
          <a:prstGeom prst="roundRect">
            <a:avLst>
              <a:gd name="adj" fmla="val 10000"/>
            </a:avLst>
          </a:prstGeom>
          <a:solidFill>
            <a:srgbClr val="1F2937">
              <a:alpha val="80000"/>
            </a:srgbClr>
          </a:solidFill>
          <a:ln w="12700" cap="flat" cmpd="sng">
            <a:solidFill>
              <a:srgbClr val="8B5CF6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5334000"/>
            <a:ext cx="508000" cy="508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651000" y="5334000"/>
            <a:ext cx="406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A78BFA"/>
                </a:solidFill>
                <a:latin typeface="Noto Sans SC"/>
                <a:ea typeface="Noto Sans SC"/>
                <a:cs typeface="Noto Sans SC"/>
                <a:sym typeface="Noto Sans SC"/>
              </a:rPr>
              <a:t>项目契机：填补空白，满足多方需求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651000" y="5778500"/>
            <a:ext cx="406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为安全讲师提供演示环境，为开发者提供练习平台，为CTF组织者提供新颖题型。</a:t>
            </a:r>
            <a:endParaRPr lang="en-US" sz="1100"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8"/>
          <a:srcRect l="14919" r="14919"/>
          <a:stretch>
            <a:fillRect/>
          </a:stretch>
        </p:blipFill>
        <p:spPr>
          <a:xfrm>
            <a:off x="6223000" y="1397000"/>
            <a:ext cx="4953000" cy="4699000"/>
          </a:xfrm>
          <a:prstGeom prst="roundRect">
            <a:avLst>
              <a:gd name="adj" fmla="val 4324"/>
            </a:avLst>
          </a:prstGeom>
          <a:noFill/>
          <a:ln w="25400" cap="flat" cmpd="sng">
            <a:solidFill>
              <a:srgbClr val="8B5CF6">
                <a:alpha val="60000"/>
              </a:srgbClr>
            </a:solidFill>
            <a:prstDash val="solid"/>
            <a:round/>
          </a:ln>
          <a:effectLst>
            <a:outerShdw blurRad="254000" dist="101600" dir="2700000" algn="t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 项目概述：项目目标与价值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07000" cy="4826000"/>
          </a:xfrm>
          <a:prstGeom prst="roundRect">
            <a:avLst>
              <a:gd name="adj" fmla="val 3157"/>
            </a:avLst>
          </a:prstGeom>
          <a:solidFill>
            <a:srgbClr val="1F2937">
              <a:alpha val="85000"/>
            </a:srgbClr>
          </a:solidFill>
          <a:ln w="12700" cap="flat" cmpd="sng">
            <a:solidFill>
              <a:srgbClr val="8B5CF6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7145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项目核心目标 / Project Goals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286000"/>
            <a:ext cx="4699000" cy="711200"/>
          </a:xfrm>
          <a:prstGeom prst="roundRect">
            <a:avLst>
              <a:gd name="adj" fmla="val 14285"/>
            </a:avLst>
          </a:prstGeom>
          <a:solidFill>
            <a:srgbClr val="8B5CF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8400" y="24384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778000" y="2362200"/>
            <a:ext cx="381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核心功能实现：</a:t>
            </a:r>
            <a:r>
              <a:rPr lang="en-US" sz="11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添加全新的AI提示注入安全挑战场景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3124200"/>
            <a:ext cx="4699000" cy="711200"/>
          </a:xfrm>
          <a:prstGeom prst="roundRect">
            <a:avLst>
              <a:gd name="adj" fmla="val 14285"/>
            </a:avLst>
          </a:prstGeom>
          <a:solidFill>
            <a:srgbClr val="8B5CF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68400" y="32766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778000" y="3200400"/>
            <a:ext cx="381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可控漏洞环境：</a:t>
            </a:r>
            <a:r>
              <a:rPr lang="en-US" sz="11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提供内置逻辑漏洞的AI客服助手端点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16000" y="3962400"/>
            <a:ext cx="4699000" cy="711200"/>
          </a:xfrm>
          <a:prstGeom prst="roundRect">
            <a:avLst>
              <a:gd name="adj" fmla="val 14285"/>
            </a:avLst>
          </a:prstGeom>
          <a:solidFill>
            <a:srgbClr val="8B5CF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68400" y="41148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778000" y="4038600"/>
            <a:ext cx="381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完整学习闭环：</a:t>
            </a:r>
            <a:r>
              <a:rPr lang="en-US" sz="11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支持演示、攻击、审计与修复验证全流程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016000" y="4800600"/>
            <a:ext cx="4699000" cy="711200"/>
          </a:xfrm>
          <a:prstGeom prst="roundRect">
            <a:avLst>
              <a:gd name="adj" fmla="val 14285"/>
            </a:avLst>
          </a:prstGeom>
          <a:solidFill>
            <a:srgbClr val="8B5CF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68400" y="49530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778000" y="4876800"/>
            <a:ext cx="381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无缝系统集成：</a:t>
            </a:r>
            <a:r>
              <a:rPr lang="en-US" sz="11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与Juice Shop积分、排行榜系统深度融合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016000" y="5638800"/>
            <a:ext cx="4699000" cy="609600"/>
          </a:xfrm>
          <a:prstGeom prst="roundRect">
            <a:avLst>
              <a:gd name="adj" fmla="val 16666"/>
            </a:avLst>
          </a:prstGeom>
          <a:solidFill>
            <a:srgbClr val="8B5CF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68400" y="5740400"/>
            <a:ext cx="406400" cy="4064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1778000" y="568960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教学资源丰富：</a:t>
            </a:r>
            <a:r>
              <a:rPr lang="en-US" sz="11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提供详尽的防御指南与代码示例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223000" y="1524000"/>
            <a:ext cx="5207000" cy="4826000"/>
          </a:xfrm>
          <a:prstGeom prst="roundRect">
            <a:avLst>
              <a:gd name="adj" fmla="val 3157"/>
            </a:avLst>
          </a:prstGeom>
          <a:solidFill>
            <a:srgbClr val="1F2937">
              <a:alpha val="85000"/>
            </a:srgbClr>
          </a:solidFill>
          <a:ln w="12700" cap="flat" cmpd="sng">
            <a:solidFill>
              <a:srgbClr val="8B5CF6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6477000" y="17145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NABCD 商业价值模型解析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477000" y="2286000"/>
            <a:ext cx="4699000" cy="762000"/>
          </a:xfrm>
          <a:prstGeom prst="roundRect">
            <a:avLst>
              <a:gd name="adj" fmla="val 13333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6604000" y="2413000"/>
            <a:ext cx="508000" cy="508000"/>
          </a:xfrm>
          <a:prstGeom prst="roundRect">
            <a:avLst>
              <a:gd name="adj" fmla="val 20000"/>
            </a:avLst>
          </a:prstGeom>
          <a:solidFill>
            <a:srgbClr val="8B5C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6604000" y="2413000"/>
            <a:ext cx="50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N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7239000" y="2362200"/>
            <a:ext cx="3810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市场需求 (Need)：</a:t>
            </a:r>
            <a:r>
              <a:rPr lang="en-US" sz="11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填补Juice Shop在AI安全实战演练场景上的空白。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477000" y="3175000"/>
            <a:ext cx="4699000" cy="762000"/>
          </a:xfrm>
          <a:prstGeom prst="roundRect">
            <a:avLst>
              <a:gd name="adj" fmla="val 13333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6604000" y="3302000"/>
            <a:ext cx="508000" cy="508000"/>
          </a:xfrm>
          <a:prstGeom prst="roundRect">
            <a:avLst>
              <a:gd name="adj" fmla="val 20000"/>
            </a:avLst>
          </a:prstGeom>
          <a:solidFill>
            <a:srgbClr val="8B5C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6604000" y="3302000"/>
            <a:ext cx="50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7239000" y="3251200"/>
            <a:ext cx="3810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实现方案 (Approach)：</a:t>
            </a:r>
            <a:r>
              <a:rPr lang="en-US" sz="11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开发独立插件，植入漏洞端点，提供代码对比学习。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6477000" y="4064000"/>
            <a:ext cx="4699000" cy="762000"/>
          </a:xfrm>
          <a:prstGeom prst="roundRect">
            <a:avLst>
              <a:gd name="adj" fmla="val 13333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32"/>
          <p:cNvSpPr/>
          <p:nvPr/>
        </p:nvSpPr>
        <p:spPr>
          <a:xfrm>
            <a:off x="6604000" y="4191000"/>
            <a:ext cx="508000" cy="508000"/>
          </a:xfrm>
          <a:prstGeom prst="roundRect">
            <a:avLst>
              <a:gd name="adj" fmla="val 20000"/>
            </a:avLst>
          </a:prstGeom>
          <a:solidFill>
            <a:srgbClr val="8B5C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33"/>
          <p:cNvSpPr/>
          <p:nvPr/>
        </p:nvSpPr>
        <p:spPr>
          <a:xfrm>
            <a:off x="6604000" y="4191000"/>
            <a:ext cx="50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B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7239000" y="4140200"/>
            <a:ext cx="3810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核心收益 (Benefit)：</a:t>
            </a:r>
            <a:r>
              <a:rPr lang="en-US" sz="11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赋能开发者与CTF玩家，显著提升平台教学竞争力。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6477000" y="4953000"/>
            <a:ext cx="4699000" cy="762000"/>
          </a:xfrm>
          <a:prstGeom prst="roundRect">
            <a:avLst>
              <a:gd name="adj" fmla="val 13333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36"/>
          <p:cNvSpPr/>
          <p:nvPr/>
        </p:nvSpPr>
        <p:spPr>
          <a:xfrm>
            <a:off x="6604000" y="5080000"/>
            <a:ext cx="508000" cy="508000"/>
          </a:xfrm>
          <a:prstGeom prst="roundRect">
            <a:avLst>
              <a:gd name="adj" fmla="val 20000"/>
            </a:avLst>
          </a:prstGeom>
          <a:solidFill>
            <a:srgbClr val="8B5C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7" name="AutoShape 37"/>
          <p:cNvSpPr/>
          <p:nvPr/>
        </p:nvSpPr>
        <p:spPr>
          <a:xfrm>
            <a:off x="6604000" y="5080000"/>
            <a:ext cx="50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C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7239000" y="5029200"/>
            <a:ext cx="3810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竞争优势 (Competitor)：</a:t>
            </a:r>
            <a:r>
              <a:rPr lang="en-US" sz="11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深度集成无需切换环境，提供复合的逻辑漏洞挑战。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6477000" y="5842000"/>
            <a:ext cx="4699000" cy="457200"/>
          </a:xfrm>
          <a:prstGeom prst="roundRect">
            <a:avLst>
              <a:gd name="adj" fmla="val 22222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0" name="AutoShape 40"/>
          <p:cNvSpPr/>
          <p:nvPr/>
        </p:nvSpPr>
        <p:spPr>
          <a:xfrm>
            <a:off x="6604000" y="5880100"/>
            <a:ext cx="381000" cy="381000"/>
          </a:xfrm>
          <a:prstGeom prst="roundRect">
            <a:avLst>
              <a:gd name="adj" fmla="val 26666"/>
            </a:avLst>
          </a:prstGeom>
          <a:solidFill>
            <a:srgbClr val="8B5C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1" name="AutoShape 41"/>
          <p:cNvSpPr/>
          <p:nvPr/>
        </p:nvSpPr>
        <p:spPr>
          <a:xfrm>
            <a:off x="6604000" y="5880100"/>
            <a:ext cx="38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D</a:t>
            </a:r>
            <a:endParaRPr lang="en-US" sz="1100"/>
          </a:p>
        </p:txBody>
      </p:sp>
      <p:sp>
        <p:nvSpPr>
          <p:cNvPr id="42" name="AutoShape 42"/>
          <p:cNvSpPr/>
          <p:nvPr/>
        </p:nvSpPr>
        <p:spPr>
          <a:xfrm>
            <a:off x="7112000" y="5842000"/>
            <a:ext cx="3937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交付计划：提交PR至官方仓库，共享给全球安全社区。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 需求分析：精准定位用户，定义产品价值</a:t>
            </a:r>
            <a:endParaRPr lang="en-US" sz="1100"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762000" y="1524000"/>
          <a:ext cx="6350000" cy="4572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270000"/>
                <a:gridCol w="2540000"/>
                <a:gridCol w="2540000"/>
              </a:tblGrid>
              <a:tr h="508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用户角色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>
                        <a:alpha val="3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核心痛点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>
                        <a:alpha val="3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项目提供的价值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>
                        <a:alpha val="30000"/>
                      </a:srgbClr>
                    </a:solidFill>
                  </a:tcPr>
                </a:tc>
              </a:tr>
              <a:tr h="1016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安全培训师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E5E7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缺乏现成的、可复现的LLM安全教学案例。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E5E7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提供开箱即用的LLM安全教学案例库，可直接用于课堂教学与实践演示。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"/>
                      </a:srgbClr>
                    </a:solidFill>
                  </a:tcPr>
                </a:tc>
              </a:tr>
              <a:tr h="1016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开发人员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E5E7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对提示注入等LLM攻击的底层机制理解不深。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E5E7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通过交互式实战挑战，帮助开发者深入理解LLM攻击原理，学习防御策略。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"/>
                      </a:srgbClr>
                    </a:solidFill>
                  </a:tcPr>
                </a:tc>
              </a:tr>
              <a:tr h="1016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CTF玩家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E5E7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寻求新颖、前沿的AI安全挑战类型。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E5E7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提供一系列精心设计的AI安全挑战，拓展CTF竞赛的边界。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"/>
                      </a:srgbClr>
                    </a:solidFill>
                  </a:tcPr>
                </a:tc>
              </a:tr>
              <a:tr h="1016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Juice Shop生态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E5E7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在LLM安全领域存在功能空白。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E5E7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填补Juice Shop在LLM安全领域的空白，巩固其行业领先地位。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5C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 需求分析：构建核心与扩展功能矩阵</a:t>
            </a:r>
            <a:endParaRPr lang="en-US" sz="1100"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762000" y="1524000"/>
          <a:ext cx="10160000" cy="4572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524000"/>
                <a:gridCol w="3048000"/>
                <a:gridCol w="4064000"/>
                <a:gridCol w="1524000"/>
              </a:tblGrid>
              <a:tr h="508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象限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>
                        <a:alpha val="3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定义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>
                        <a:alpha val="3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本项目功能举例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>
                        <a:alpha val="3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优先级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>
                        <a:alpha val="30000"/>
                      </a:srgbClr>
                    </a:solidFill>
                  </a:tcPr>
                </a:tc>
              </a:tr>
              <a:tr h="1016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3F4F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第一象限：</a:t>
                      </a:r>
                      <a:br>
                        <a:rPr lang="en-US" sz="1200" b="1" i="0" u="none" strike="noStrike">
                          <a:solidFill>
                            <a:srgbClr val="F3F4F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</a:br>
                      <a:r>
                        <a:rPr lang="en-US" sz="1200" b="1" i="0" u="none" strike="noStrike">
                          <a:solidFill>
                            <a:srgbClr val="F3F4F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核心刚需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D1D5D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必须实现，直接支撑MVP运行的基础功能。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D1D5D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AI对话交互、提示注入检测、积分发放、用户进度记录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3F4F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最高</a:t>
                      </a:r>
                      <a:br>
                        <a:rPr lang="en-US" sz="1200" b="1" i="0" u="none" strike="noStrike">
                          <a:solidFill>
                            <a:srgbClr val="F3F4F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</a:br>
                      <a:r>
                        <a:rPr lang="en-US" sz="1200" b="1" i="0" u="none" strike="noStrike">
                          <a:solidFill>
                            <a:srgbClr val="F3F4F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(Must)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</a:tr>
              <a:tr h="1016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3F4F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第二象限：</a:t>
                      </a:r>
                      <a:br>
                        <a:rPr lang="en-US" sz="1200" b="1" i="0" u="none" strike="noStrike">
                          <a:solidFill>
                            <a:srgbClr val="F3F4F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</a:br>
                      <a:r>
                        <a:rPr lang="en-US" sz="1200" b="1" i="0" u="none" strike="noStrike">
                          <a:solidFill>
                            <a:srgbClr val="F3F4F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重要增值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D1D5D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非核心但直接提升教学效果与用户体验的功能。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D1D5D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漏洞/修复代码展示、攻击风险等级反馈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3F4F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高</a:t>
                      </a:r>
                      <a:br>
                        <a:rPr lang="en-US" sz="1200" b="1" i="0" u="none" strike="noStrike">
                          <a:solidFill>
                            <a:srgbClr val="F3F4F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</a:br>
                      <a:r>
                        <a:rPr lang="en-US" sz="1200" b="1" i="0" u="none" strike="noStrike">
                          <a:solidFill>
                            <a:srgbClr val="F3F4F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(Should)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</a:tr>
              <a:tr h="1016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3F4F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第三象限：</a:t>
                      </a:r>
                      <a:br>
                        <a:rPr lang="en-US" sz="1200" b="1" i="0" u="none" strike="noStrike">
                          <a:solidFill>
                            <a:srgbClr val="F3F4F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</a:br>
                      <a:r>
                        <a:rPr lang="en-US" sz="1200" b="1" i="0" u="none" strike="noStrike">
                          <a:solidFill>
                            <a:srgbClr val="F3F4F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锦上添花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D1D5D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优化体验、但不影响核心流程的辅助功能。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D1D5D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攻击Payload示例库、挑战知识点讲解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3F4F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中</a:t>
                      </a:r>
                      <a:br>
                        <a:rPr lang="en-US" sz="1200" b="1" i="0" u="none" strike="noStrike">
                          <a:solidFill>
                            <a:srgbClr val="F3F4F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</a:br>
                      <a:r>
                        <a:rPr lang="en-US" sz="1200" b="1" i="0" u="none" strike="noStrike">
                          <a:solidFill>
                            <a:srgbClr val="F3F4F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(Could)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</a:tr>
              <a:tr h="1016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3F4F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第四象限：</a:t>
                      </a:r>
                      <a:br>
                        <a:rPr lang="en-US" sz="1200" b="1" i="0" u="none" strike="noStrike">
                          <a:solidFill>
                            <a:srgbClr val="F3F4F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</a:br>
                      <a:r>
                        <a:rPr lang="en-US" sz="1200" b="1" i="0" u="none" strike="noStrike">
                          <a:solidFill>
                            <a:srgbClr val="F3F4F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可延期功能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D1D5D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与核心目标关联弱，或超出本次迭代范围的功能。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D1D5D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多语言支持、高级复合漏洞场景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3F4F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低</a:t>
                      </a:r>
                      <a:br>
                        <a:rPr lang="en-US" sz="1200" b="1" i="0" u="none" strike="noStrike">
                          <a:solidFill>
                            <a:srgbClr val="F3F4F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</a:br>
                      <a:r>
                        <a:rPr lang="en-US" sz="1200" b="1" i="0" u="none" strike="noStrike">
                          <a:solidFill>
                            <a:srgbClr val="F3F4F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(Won’t)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A0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 系统设计：基于MVC的模块化设计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520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D1D5D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系统设计严格遵循模块化与单一职责原则，以</a:t>
            </a:r>
            <a:r>
              <a:rPr lang="en-US" sz="1200" b="1" i="0" u="none" strike="noStrike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AiChallengeController</a:t>
            </a:r>
            <a:r>
              <a:rPr lang="en-US" sz="1200" b="0" i="0" u="none" strike="noStrike">
                <a:solidFill>
                  <a:srgbClr val="D1D5D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为核心调度中心，统筹各功能模块协作，构建高内聚、低耦合的架构体系。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222500"/>
            <a:ext cx="2540000" cy="1206500"/>
          </a:xfrm>
          <a:prstGeom prst="roundRect">
            <a:avLst>
              <a:gd name="adj" fmla="val 10526"/>
            </a:avLst>
          </a:prstGeom>
          <a:solidFill>
            <a:srgbClr val="1E293B">
              <a:alpha val="80000"/>
            </a:srgbClr>
          </a:solidFill>
          <a:ln w="12700" cap="flat" cmpd="sng">
            <a:solidFill>
              <a:srgbClr val="8B5CF6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2413000"/>
            <a:ext cx="457200" cy="4572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2387600"/>
            <a:ext cx="165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核心控制器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524000" y="2768600"/>
            <a:ext cx="165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AiChallengeController</a:t>
            </a:r>
            <a:br>
              <a:rPr lang="en-US" sz="10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0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业务逻辑与模块调度中枢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3556000"/>
            <a:ext cx="2540000" cy="1206500"/>
          </a:xfrm>
          <a:prstGeom prst="roundRect">
            <a:avLst>
              <a:gd name="adj" fmla="val 10526"/>
            </a:avLst>
          </a:prstGeom>
          <a:solidFill>
            <a:srgbClr val="1E293B">
              <a:alpha val="80000"/>
            </a:srgbClr>
          </a:solidFill>
          <a:ln w="12700" cap="flat" cmpd="sng">
            <a:solidFill>
              <a:srgbClr val="8B5CF6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3746500"/>
            <a:ext cx="457200" cy="4572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524000" y="3721100"/>
            <a:ext cx="165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注入攻击检测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524000" y="4102100"/>
            <a:ext cx="165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PromptInjectionDetector</a:t>
            </a:r>
            <a:br>
              <a:rPr lang="en-US" sz="10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0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实时分析用户输入风险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4889500"/>
            <a:ext cx="2540000" cy="1206500"/>
          </a:xfrm>
          <a:prstGeom prst="roundRect">
            <a:avLst>
              <a:gd name="adj" fmla="val 10526"/>
            </a:avLst>
          </a:prstGeom>
          <a:solidFill>
            <a:srgbClr val="1E293B">
              <a:alpha val="80000"/>
            </a:srgbClr>
          </a:solidFill>
          <a:ln w="12700" cap="flat" cmpd="sng">
            <a:solidFill>
              <a:srgbClr val="8B5CF6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" y="5080000"/>
            <a:ext cx="457200" cy="4572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524000" y="5054600"/>
            <a:ext cx="165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漏洞代码服务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524000" y="5435600"/>
            <a:ext cx="165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VulnerableCodeService</a:t>
            </a:r>
            <a:br>
              <a:rPr lang="en-US" sz="10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0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提供漏洞环境与修复代码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3429000" y="2222500"/>
            <a:ext cx="2540000" cy="1206500"/>
          </a:xfrm>
          <a:prstGeom prst="roundRect">
            <a:avLst>
              <a:gd name="adj" fmla="val 10526"/>
            </a:avLst>
          </a:prstGeom>
          <a:solidFill>
            <a:srgbClr val="1E293B">
              <a:alpha val="80000"/>
            </a:srgbClr>
          </a:solidFill>
          <a:ln w="12700" cap="flat" cmpd="sng">
            <a:solidFill>
              <a:srgbClr val="8B5CF6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619500" y="2413000"/>
            <a:ext cx="457200" cy="4572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4191000" y="2387600"/>
            <a:ext cx="165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LLM 模拟服务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4191000" y="2768600"/>
            <a:ext cx="165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LlmMockService</a:t>
            </a:r>
            <a:br>
              <a:rPr lang="en-US" sz="10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0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构建存在特定漏洞的模型环境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3429000" y="3556000"/>
            <a:ext cx="2540000" cy="1206500"/>
          </a:xfrm>
          <a:prstGeom prst="roundRect">
            <a:avLst>
              <a:gd name="adj" fmla="val 10526"/>
            </a:avLst>
          </a:prstGeom>
          <a:solidFill>
            <a:srgbClr val="1E293B">
              <a:alpha val="80000"/>
            </a:srgbClr>
          </a:solidFill>
          <a:ln w="12700" cap="flat" cmpd="sng">
            <a:solidFill>
              <a:srgbClr val="8B5CF6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619500" y="3746500"/>
            <a:ext cx="457200" cy="4572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4191000" y="3721100"/>
            <a:ext cx="165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积分交互服务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4191000" y="4102100"/>
            <a:ext cx="165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ChallengeScoreService</a:t>
            </a:r>
            <a:br>
              <a:rPr lang="en-US" sz="10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0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对接主系统，管理挑战积分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3429000" y="4889500"/>
            <a:ext cx="2540000" cy="1206500"/>
          </a:xfrm>
          <a:prstGeom prst="roundRect">
            <a:avLst>
              <a:gd name="adj" fmla="val 10526"/>
            </a:avLst>
          </a:prstGeom>
          <a:solidFill>
            <a:srgbClr val="1E293B">
              <a:alpha val="80000"/>
            </a:srgbClr>
          </a:solidFill>
          <a:ln w="12700" cap="flat" cmpd="sng">
            <a:solidFill>
              <a:srgbClr val="8B5CF6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619500" y="5080000"/>
            <a:ext cx="457200" cy="4572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4191000" y="5054600"/>
            <a:ext cx="165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进度持久化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4191000" y="5435600"/>
            <a:ext cx="165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UserProgressRecord</a:t>
            </a:r>
            <a:br>
              <a:rPr lang="en-US" sz="10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0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存储用户挑战的历史状态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223000" y="1968500"/>
            <a:ext cx="4826000" cy="4191000"/>
          </a:xfrm>
          <a:prstGeom prst="roundRect">
            <a:avLst>
              <a:gd name="adj" fmla="val 3636"/>
            </a:avLst>
          </a:prstGeom>
          <a:solidFill>
            <a:srgbClr val="FFFFFF">
              <a:alpha val="5000"/>
            </a:srgbClr>
          </a:solidFill>
          <a:ln w="25400" cap="flat" cmpd="sng">
            <a:solidFill>
              <a:srgbClr val="8B5CF6">
                <a:alpha val="70000"/>
              </a:srgbClr>
            </a:solidFill>
            <a:prstDash val="solid"/>
            <a:round/>
          </a:ln>
          <a:effectLst>
            <a:outerShdw blurRad="254000" dist="76200" dir="2700000" algn="tl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14"/>
          <a:srcRect t="12435" b="12435"/>
          <a:stretch>
            <a:fillRect/>
          </a:stretch>
        </p:blipFill>
        <p:spPr>
          <a:xfrm>
            <a:off x="6350000" y="2095500"/>
            <a:ext cx="4572000" cy="3937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 系统设计：界面原型展示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4572000" cy="4826000"/>
          </a:xfrm>
          <a:prstGeom prst="roundRect">
            <a:avLst>
              <a:gd name="adj" fmla="val 4444"/>
            </a:avLst>
          </a:prstGeom>
          <a:solidFill>
            <a:srgbClr val="1E2937">
              <a:alpha val="90000"/>
            </a:srgbClr>
          </a:solidFill>
          <a:ln w="12700" cap="flat" cmpd="sng">
            <a:solidFill>
              <a:srgbClr val="8B5CF6">
                <a:alpha val="4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841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▍ 设计理念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413000"/>
            <a:ext cx="406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D1D5D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采用现代化暗黑风格UI，视觉上与Juice Shop平台基调保持高度统一。利用高饱和度的科技紫作为强调色，直观引导用户关注AI安全相关的核心交互区域，营造沉浸的安全实验氛围。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35560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▍ 核心功能：AI提示注入实验室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4191000"/>
            <a:ext cx="4064000" cy="1016000"/>
          </a:xfrm>
          <a:prstGeom prst="roundRect">
            <a:avLst>
              <a:gd name="adj" fmla="val 10000"/>
            </a:avLst>
          </a:prstGeom>
          <a:solidFill>
            <a:srgbClr val="8B5CF6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6500" y="4445000"/>
            <a:ext cx="457200" cy="4572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905000" y="4343400"/>
            <a:ext cx="292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 助手交互模拟器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905000" y="4699000"/>
            <a:ext cx="2921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D1D5DB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左侧核心区域，支持用户输入任意Prompt，实时模拟AI模型的回复与响应过程。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16000" y="5334000"/>
            <a:ext cx="4064000" cy="1016000"/>
          </a:xfrm>
          <a:prstGeom prst="roundRect">
            <a:avLst>
              <a:gd name="adj" fmla="val 10000"/>
            </a:avLst>
          </a:prstGeom>
          <a:solidFill>
            <a:srgbClr val="8B5CF6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06500" y="5588000"/>
            <a:ext cx="457200" cy="4572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905000" y="5486400"/>
            <a:ext cx="292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挑战说明 &amp; 代码审计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905000" y="5842000"/>
            <a:ext cx="2921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D1D5DB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右侧信息面板，提供当前关卡的攻击目标提示，并集成代码审计窗口辅助分析。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5715000" y="1524000"/>
            <a:ext cx="5715000" cy="4826000"/>
          </a:xfrm>
          <a:prstGeom prst="roundRect">
            <a:avLst>
              <a:gd name="adj" fmla="val 4210"/>
            </a:avLst>
          </a:prstGeom>
          <a:solidFill>
            <a:srgbClr val="000000">
              <a:alpha val="40000"/>
            </a:srgbClr>
          </a:solidFill>
          <a:ln w="25400" cap="flat" cmpd="sng">
            <a:solidFill>
              <a:srgbClr val="8B5CF6">
                <a:alpha val="70000"/>
              </a:srgbClr>
            </a:solidFill>
            <a:prstDash val="solid"/>
            <a:round/>
          </a:ln>
          <a:effectLst>
            <a:outerShdw blurRad="254000" dir="2700000" algn="tl" rotWithShape="0">
              <a:srgbClr val="8B5CF6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6"/>
          <a:srcRect l="22507" r="22507"/>
          <a:stretch>
            <a:fillRect/>
          </a:stretch>
        </p:blipFill>
        <p:spPr>
          <a:xfrm>
            <a:off x="5842000" y="1651000"/>
            <a:ext cx="5461000" cy="4572000"/>
          </a:xfrm>
          <a:prstGeom prst="roundRect">
            <a:avLst>
              <a:gd name="adj" fmla="val 3333"/>
            </a:avLst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 系统设计：界面原型展示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07000" cy="4699000"/>
          </a:xfrm>
          <a:prstGeom prst="roundRect">
            <a:avLst>
              <a:gd name="adj" fmla="val 3243"/>
            </a:avLst>
          </a:prstGeom>
          <a:solidFill>
            <a:srgbClr val="1E1E28">
              <a:alpha val="85000"/>
            </a:srgbClr>
          </a:solidFill>
          <a:ln w="12700" cap="flat" cmpd="sng">
            <a:solidFill>
              <a:srgbClr val="8B5CF6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 l="12183" r="12183"/>
          <a:stretch>
            <a:fillRect/>
          </a:stretch>
        </p:blipFill>
        <p:spPr>
          <a:xfrm>
            <a:off x="1016000" y="1778000"/>
            <a:ext cx="4699000" cy="2921000"/>
          </a:xfrm>
          <a:prstGeom prst="roundRect">
            <a:avLst>
              <a:gd name="adj" fmla="val 3478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30000"/>
              </a:srgbClr>
            </a:outerShdw>
          </a:effectLst>
        </p:spPr>
      </p:pic>
      <p:sp>
        <p:nvSpPr>
          <p:cNvPr id="6" name="AutoShape 6"/>
          <p:cNvSpPr/>
          <p:nvPr/>
        </p:nvSpPr>
        <p:spPr>
          <a:xfrm>
            <a:off x="1016000" y="4953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实时威胁告警中心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54610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模拟实时威胁情报与处置响应流程，将真实的攻击数据可视化，显著提升平台操作的沉浸感和场景真实感。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223000" y="1524000"/>
            <a:ext cx="5207000" cy="4699000"/>
          </a:xfrm>
          <a:prstGeom prst="roundRect">
            <a:avLst>
              <a:gd name="adj" fmla="val 3243"/>
            </a:avLst>
          </a:prstGeom>
          <a:solidFill>
            <a:srgbClr val="1E1E28">
              <a:alpha val="85000"/>
            </a:srgbClr>
          </a:solidFill>
          <a:ln w="12700" cap="flat" cmpd="sng">
            <a:solidFill>
              <a:srgbClr val="8B5CF6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/>
          <a:srcRect l="13317" r="13317"/>
          <a:stretch>
            <a:fillRect/>
          </a:stretch>
        </p:blipFill>
        <p:spPr>
          <a:xfrm>
            <a:off x="6477000" y="1778000"/>
            <a:ext cx="4699000" cy="2921000"/>
          </a:xfrm>
          <a:prstGeom prst="roundRect">
            <a:avLst>
              <a:gd name="adj" fmla="val 3478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30000"/>
              </a:srgbClr>
            </a:outerShdw>
          </a:effectLst>
        </p:spPr>
      </p:pic>
      <p:sp>
        <p:nvSpPr>
          <p:cNvPr id="10" name="AutoShape 10"/>
          <p:cNvSpPr/>
          <p:nvPr/>
        </p:nvSpPr>
        <p:spPr>
          <a:xfrm>
            <a:off x="6477000" y="4953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漏洞代码与修复代码对比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477000" y="54610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直观展示漏洞所在的关键代码行与安全的修复方案，帮助用户从底层逻辑深入理解防御原理与代码审计技巧。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 系统设计：界面原型展示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07000" cy="4699000"/>
          </a:xfrm>
          <a:prstGeom prst="roundRect">
            <a:avLst>
              <a:gd name="adj" fmla="val 3243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8B5CF6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 l="11480" r="11480"/>
          <a:stretch>
            <a:fillRect/>
          </a:stretch>
        </p:blipFill>
        <p:spPr>
          <a:xfrm>
            <a:off x="1016000" y="1778000"/>
            <a:ext cx="4699000" cy="2794000"/>
          </a:xfrm>
          <a:prstGeom prst="roundRect">
            <a:avLst>
              <a:gd name="adj" fmla="val 3636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30000"/>
              </a:srgbClr>
            </a:outerShdw>
          </a:effectLst>
        </p:spPr>
      </p:pic>
      <p:sp>
        <p:nvSpPr>
          <p:cNvPr id="6" name="AutoShape 6"/>
          <p:cNvSpPr/>
          <p:nvPr/>
        </p:nvSpPr>
        <p:spPr>
          <a:xfrm>
            <a:off x="1016000" y="47625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系统管理与审计控制台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52705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提供用户、角色及审计日志的管理界面，直观展示平台的权限管控能力与数据完整性，为系统运维提供坚实的可扩展性支撑。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223000" y="1524000"/>
            <a:ext cx="5207000" cy="4699000"/>
          </a:xfrm>
          <a:prstGeom prst="roundRect">
            <a:avLst>
              <a:gd name="adj" fmla="val 3243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8B5CF6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/>
          <a:srcRect l="11116" r="11116"/>
          <a:stretch>
            <a:fillRect/>
          </a:stretch>
        </p:blipFill>
        <p:spPr>
          <a:xfrm>
            <a:off x="6477000" y="1778000"/>
            <a:ext cx="4699000" cy="2794000"/>
          </a:xfrm>
          <a:prstGeom prst="roundRect">
            <a:avLst>
              <a:gd name="adj" fmla="val 3636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30000"/>
              </a:srgbClr>
            </a:outerShdw>
          </a:effectLst>
        </p:spPr>
      </p:pic>
      <p:sp>
        <p:nvSpPr>
          <p:cNvPr id="10" name="AutoShape 10"/>
          <p:cNvSpPr/>
          <p:nvPr/>
        </p:nvSpPr>
        <p:spPr>
          <a:xfrm>
            <a:off x="6477000" y="47625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漏洞监测与安全评估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477000" y="52705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集成模拟扫描任务管理与深度风险分析报告，可视化呈现安全态势，充分展示了安全检测插件的灵活配置与潜在扩展能力。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 系统设计：界面原型展示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4318000" cy="4445000"/>
          </a:xfrm>
          <a:prstGeom prst="roundRect">
            <a:avLst>
              <a:gd name="adj" fmla="val 3529"/>
            </a:avLst>
          </a:prstGeom>
          <a:solidFill>
            <a:srgbClr val="1F2937">
              <a:alpha val="85000"/>
            </a:srgbClr>
          </a:solidFill>
          <a:ln w="12700" cap="flat" cmpd="sng">
            <a:solidFill>
              <a:srgbClr val="8B5CF6">
                <a:alpha val="40000"/>
              </a:srgbClr>
            </a:solidFill>
            <a:prstDash val="solid"/>
            <a:round/>
          </a:ln>
          <a:effectLst>
            <a:outerShdw blurRad="203200" dist="508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032000"/>
            <a:ext cx="457200" cy="4572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651000" y="2032000"/>
            <a:ext cx="3175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AI Security 总览仪表盘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794000"/>
            <a:ext cx="3810000" cy="12700"/>
          </a:xfrm>
          <a:prstGeom prst="roundRect">
            <a:avLst>
              <a:gd name="adj" fmla="val 0"/>
            </a:avLst>
          </a:prstGeom>
          <a:solidFill>
            <a:srgbClr val="8B5CF6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016000" y="3175000"/>
            <a:ext cx="1778000" cy="406400"/>
          </a:xfrm>
          <a:prstGeom prst="roundRect">
            <a:avLst>
              <a:gd name="adj" fmla="val 18750"/>
            </a:avLst>
          </a:prstGeom>
          <a:solidFill>
            <a:srgbClr val="8B5CF6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全局安全态势监控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2921000" y="3175000"/>
            <a:ext cx="1778000" cy="406400"/>
          </a:xfrm>
          <a:prstGeom prst="roundRect">
            <a:avLst>
              <a:gd name="adj" fmla="val 18750"/>
            </a:avLst>
          </a:prstGeom>
          <a:solidFill>
            <a:srgbClr val="8B5CF6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注入攻击趋势分析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3937000"/>
            <a:ext cx="381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整合核心安全数据，将复杂的威胁情报转化为可视化图表。提供一站式监控体验，让管理员能直观地掌握系统当前的健康状态与潜在风险。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16000" y="5207000"/>
            <a:ext cx="3810000" cy="635000"/>
          </a:xfrm>
          <a:prstGeom prst="roundRect">
            <a:avLst>
              <a:gd name="adj" fmla="val 1600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1143000" y="5207000"/>
            <a:ext cx="114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99.4%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0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防御成功率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2413000" y="5207000"/>
            <a:ext cx="114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128+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0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实时连接数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5334000" y="1651000"/>
            <a:ext cx="6096000" cy="4445000"/>
          </a:xfrm>
          <a:prstGeom prst="roundRect">
            <a:avLst>
              <a:gd name="adj" fmla="val 3428"/>
            </a:avLst>
          </a:prstGeom>
          <a:solidFill>
            <a:srgbClr val="000000">
              <a:alpha val="30000"/>
            </a:srgbClr>
          </a:solidFill>
          <a:ln w="12700" cap="flat" cmpd="sng">
            <a:solidFill>
              <a:srgbClr val="8B5CF6">
                <a:alpha val="60000"/>
              </a:srgbClr>
            </a:solidFill>
            <a:prstDash val="solid"/>
            <a:round/>
          </a:ln>
          <a:effectLst>
            <a:outerShdw blurRad="254000" dist="76200" dir="2700000" algn="tl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4"/>
          <a:srcRect l="18076" r="18076"/>
          <a:stretch>
            <a:fillRect/>
          </a:stretch>
        </p:blipFill>
        <p:spPr>
          <a:xfrm>
            <a:off x="5524500" y="1841500"/>
            <a:ext cx="5715000" cy="4064000"/>
          </a:xfrm>
          <a:prstGeom prst="roundRect">
            <a:avLst>
              <a:gd name="adj" fmla="val 2500"/>
            </a:avLst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04 项目规划：时间线与里程碑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5334000" cy="4953000"/>
          </a:xfrm>
          <a:prstGeom prst="roundRect">
            <a:avLst>
              <a:gd name="adj" fmla="val 307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8B5CF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5875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▍ 项目总体进度安排 (敏捷开发)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159000"/>
            <a:ext cx="2413000" cy="1206500"/>
          </a:xfrm>
          <a:prstGeom prst="roundRect">
            <a:avLst>
              <a:gd name="adj" fmla="val 8421"/>
            </a:avLst>
          </a:prstGeom>
          <a:solidFill>
            <a:srgbClr val="8B5CF6">
              <a:alpha val="15000"/>
            </a:srgbClr>
          </a:solidFill>
          <a:ln w="12700" cap="flat" cmpd="sng">
            <a:solidFill>
              <a:srgbClr val="8B5CF6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143000" y="2260600"/>
            <a:ext cx="215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第 6 - 7 周 | 计划与设计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143000" y="2603500"/>
            <a:ext cx="215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制定团队计划，输出需求规格说明书，完成产品原型设计 V1.0。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556000" y="2159000"/>
            <a:ext cx="2413000" cy="1206500"/>
          </a:xfrm>
          <a:prstGeom prst="roundRect">
            <a:avLst>
              <a:gd name="adj" fmla="val 8421"/>
            </a:avLst>
          </a:prstGeom>
          <a:solidFill>
            <a:srgbClr val="8B5CF6">
              <a:alpha val="15000"/>
            </a:srgbClr>
          </a:solidFill>
          <a:ln w="12700" cap="flat" cmpd="sng">
            <a:solidFill>
              <a:srgbClr val="8B5CF6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3683000" y="2260600"/>
            <a:ext cx="215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第 8 周 | 原型迭代 (里程碑)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683000" y="2603500"/>
            <a:ext cx="215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完成环境搭建与架构设计，进行原型迭代展示汇报。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16000" y="3556000"/>
            <a:ext cx="2413000" cy="1206500"/>
          </a:xfrm>
          <a:prstGeom prst="roundRect">
            <a:avLst>
              <a:gd name="adj" fmla="val 8421"/>
            </a:avLst>
          </a:prstGeom>
          <a:solidFill>
            <a:srgbClr val="8B5CF6">
              <a:alpha val="15000"/>
            </a:srgbClr>
          </a:solidFill>
          <a:ln w="12700" cap="flat" cmpd="sng">
            <a:solidFill>
              <a:srgbClr val="8B5CF6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1143000" y="3657600"/>
            <a:ext cx="215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第 9 - 10 周 | 模块开发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143000" y="4000500"/>
            <a:ext cx="215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小组并行开发核心功能模块，定期进行代码审查与同步。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3556000" y="3556000"/>
            <a:ext cx="2413000" cy="1206500"/>
          </a:xfrm>
          <a:prstGeom prst="roundRect">
            <a:avLst>
              <a:gd name="adj" fmla="val 8421"/>
            </a:avLst>
          </a:prstGeom>
          <a:solidFill>
            <a:srgbClr val="8B5CF6">
              <a:alpha val="15000"/>
            </a:srgbClr>
          </a:solidFill>
          <a:ln w="12700" cap="flat" cmpd="sng">
            <a:solidFill>
              <a:srgbClr val="8B5CF6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3683000" y="3657600"/>
            <a:ext cx="215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第 10 周 | 设计迭代 (里程碑)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3683000" y="4000500"/>
            <a:ext cx="215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根据开发进度与测试反馈，对交互设计进行深度优化迭代。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016000" y="4953000"/>
            <a:ext cx="2413000" cy="1206500"/>
          </a:xfrm>
          <a:prstGeom prst="roundRect">
            <a:avLst>
              <a:gd name="adj" fmla="val 8421"/>
            </a:avLst>
          </a:prstGeom>
          <a:solidFill>
            <a:srgbClr val="8B5CF6">
              <a:alpha val="15000"/>
            </a:srgbClr>
          </a:solidFill>
          <a:ln w="12700" cap="flat" cmpd="sng">
            <a:solidFill>
              <a:srgbClr val="8B5CF6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1143000" y="5054600"/>
            <a:ext cx="215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第 11 - 12 周 | 复审与总结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1143000" y="5397500"/>
            <a:ext cx="215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全流程项目复审，输出事后分析报告，完成团队开发总结。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3556000" y="4953000"/>
            <a:ext cx="2413000" cy="1206500"/>
          </a:xfrm>
          <a:prstGeom prst="roundRect">
            <a:avLst>
              <a:gd name="adj" fmla="val 8421"/>
            </a:avLst>
          </a:prstGeom>
          <a:solidFill>
            <a:srgbClr val="8B5CF6">
              <a:alpha val="15000"/>
            </a:srgbClr>
          </a:solidFill>
          <a:ln w="12700" cap="flat" cmpd="sng">
            <a:solidFill>
              <a:srgbClr val="8B5CF6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3683000" y="5054600"/>
            <a:ext cx="215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第 12 周 | 最终交付 (里程碑)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3683000" y="5397500"/>
            <a:ext cx="215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提交完整项目代码与文档，进行最终项目成果展示汇报。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350000" y="1397000"/>
            <a:ext cx="5080000" cy="4953000"/>
          </a:xfrm>
          <a:prstGeom prst="roundRect">
            <a:avLst>
              <a:gd name="adj" fmla="val 307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8B5CF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6604000" y="15875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▍ GitHub 数字化管理实践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604000" y="2159000"/>
            <a:ext cx="457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通过 GitHub 的 Issues 追踪每日任务细节，利用 Milestones 管理关键阶段里程碑，实现开发进度的可视化、透明化与可追溯。</a:t>
            </a:r>
            <a:endParaRPr lang="en-US" sz="1100"/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2"/>
          <a:srcRect l="1332" r="1332"/>
          <a:stretch>
            <a:fillRect/>
          </a:stretch>
        </p:blipFill>
        <p:spPr>
          <a:xfrm>
            <a:off x="6604000" y="3048000"/>
            <a:ext cx="2159000" cy="1778000"/>
          </a:xfrm>
          <a:prstGeom prst="roundRect">
            <a:avLst>
              <a:gd name="adj" fmla="val 7142"/>
            </a:avLst>
          </a:prstGeom>
          <a:noFill/>
          <a:ln w="12700" cap="flat" cmpd="sng">
            <a:solidFill>
              <a:srgbClr val="8B5CF6">
                <a:alpha val="5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28" name="AutoShape 28"/>
          <p:cNvSpPr/>
          <p:nvPr/>
        </p:nvSpPr>
        <p:spPr>
          <a:xfrm>
            <a:off x="6604000" y="4953000"/>
            <a:ext cx="215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Issues 任务看板</a:t>
            </a:r>
            <a:endParaRPr lang="en-US" sz="1100"/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3"/>
          <a:srcRect l="12709" r="12709"/>
          <a:stretch>
            <a:fillRect/>
          </a:stretch>
        </p:blipFill>
        <p:spPr>
          <a:xfrm>
            <a:off x="8890000" y="3048000"/>
            <a:ext cx="2159000" cy="1778000"/>
          </a:xfrm>
          <a:prstGeom prst="roundRect">
            <a:avLst>
              <a:gd name="adj" fmla="val 7142"/>
            </a:avLst>
          </a:prstGeom>
          <a:noFill/>
          <a:ln w="12700" cap="flat" cmpd="sng">
            <a:solidFill>
              <a:srgbClr val="8B5CF6">
                <a:alpha val="5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30" name="AutoShape 30"/>
          <p:cNvSpPr/>
          <p:nvPr/>
        </p:nvSpPr>
        <p:spPr>
          <a:xfrm>
            <a:off x="8890000" y="4953000"/>
            <a:ext cx="215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Milestones 里程碑管理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04 项目规划：团队介绍与协作模式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08000" y="1397000"/>
            <a:ext cx="5334000" cy="5080000"/>
          </a:xfrm>
          <a:prstGeom prst="roundRect">
            <a:avLst>
              <a:gd name="adj" fmla="val 3000"/>
            </a:avLst>
          </a:prstGeom>
          <a:solidFill>
            <a:srgbClr val="1E1E28">
              <a:alpha val="85000"/>
            </a:srgbClr>
          </a:solidFill>
          <a:ln w="12700" cap="flat" cmpd="sng">
            <a:solidFill>
              <a:srgbClr val="8B5CF6">
                <a:alpha val="5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30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团队分工与职责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159000"/>
            <a:ext cx="4826000" cy="406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林夕炫 (组长 / 后端)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负责后端核心模块开发、需求对接、接口联调、项目整体协调。</a:t>
            </a:r>
            <a:endParaRPr lang="en-US" sz="1200" b="0" i="0" u="none" strike="noStrike">
              <a:solidFill>
                <a:srgbClr val="D1D5DB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</a:p>
          <a:p>
            <a:pPr indent="0" algn="l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杨茗曦 (数据库开发)</a:t>
            </a:r>
            <a:endParaRPr lang="en-US" sz="1400" b="1" i="0" u="none" strike="noStrike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负责数据层设计与开发、数据读写接口实现、数据测试与优化。</a:t>
            </a:r>
            <a:endParaRPr lang="en-US" sz="1200" b="0" i="0" u="none" strike="noStrike">
              <a:solidFill>
                <a:srgbClr val="D1D5DB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</a:p>
          <a:p>
            <a:pPr indent="0" algn="l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陈泽浩 (前端开发)</a:t>
            </a:r>
            <a:endParaRPr lang="en-US" sz="1400" b="1" i="0" u="none" strike="noStrike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负责界面开发与交互、前后端接口联调、原型迭代与优化。</a:t>
            </a:r>
            <a:endParaRPr lang="en-US" sz="1200" b="0" i="0" u="none" strike="noStrike">
              <a:solidFill>
                <a:srgbClr val="D1D5DB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6350000" y="1397000"/>
            <a:ext cx="5334000" cy="5080000"/>
          </a:xfrm>
          <a:prstGeom prst="roundRect">
            <a:avLst>
              <a:gd name="adj" fmla="val 3000"/>
            </a:avLst>
          </a:prstGeom>
          <a:solidFill>
            <a:srgbClr val="1E1E28">
              <a:alpha val="85000"/>
            </a:srgbClr>
          </a:solidFill>
          <a:ln w="12700" cap="flat" cmpd="sng">
            <a:solidFill>
              <a:srgbClr val="8B5CF6">
                <a:alpha val="5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30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6604000" y="1651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详细工作分解结构 (WBS)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604000" y="2159000"/>
            <a:ext cx="4826000" cy="406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1. 需求分析阶段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• 业务调研与用户画像分析</a:t>
            </a:r>
            <a:endParaRPr lang="en-US" sz="1200" b="0" i="0" u="none" strike="noStrike">
              <a:solidFill>
                <a:srgbClr val="D1D5DB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• 需求文档编写与评审</a:t>
            </a:r>
            <a:endParaRPr lang="en-US" sz="1200" b="0" i="0" u="none" strike="noStrike">
              <a:solidFill>
                <a:srgbClr val="D1D5DB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</a:p>
          <a:p>
            <a:pPr indent="0" algn="l">
              <a:lnSpc>
                <a:spcPct val="125000"/>
              </a:lnSpc>
            </a:pPr>
            <a:r>
              <a:rPr lang="en-US" sz="1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2. 设计阶段</a:t>
            </a:r>
            <a:endParaRPr lang="en-US" sz="1200" b="1" i="0" u="none" strike="noStrike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• 架构设计 (前后端分离)</a:t>
            </a:r>
            <a:endParaRPr lang="en-US" sz="1200" b="0" i="0" u="none" strike="noStrike">
              <a:solidFill>
                <a:srgbClr val="D1D5DB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• 数据库表结构设计</a:t>
            </a:r>
            <a:endParaRPr lang="en-US" sz="1200" b="0" i="0" u="none" strike="noStrike">
              <a:solidFill>
                <a:srgbClr val="D1D5DB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• UI/UX 原型设计</a:t>
            </a:r>
            <a:endParaRPr lang="en-US" sz="1200" b="0" i="0" u="none" strike="noStrike">
              <a:solidFill>
                <a:srgbClr val="D1D5DB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</a:p>
          <a:p>
            <a:pPr indent="0" algn="l">
              <a:lnSpc>
                <a:spcPct val="125000"/>
              </a:lnSpc>
            </a:pPr>
            <a:r>
              <a:rPr lang="en-US" sz="1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3. 开发与测试阶段</a:t>
            </a:r>
            <a:endParaRPr lang="en-US" sz="1200" b="1" i="0" u="none" strike="noStrike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• 后端 API 开发 (林夕炫)</a:t>
            </a:r>
            <a:endParaRPr lang="en-US" sz="1200" b="0" i="0" u="none" strike="noStrike">
              <a:solidFill>
                <a:srgbClr val="D1D5DB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• 数据库实现 (杨茗曦)</a:t>
            </a:r>
            <a:endParaRPr lang="en-US" sz="1200" b="0" i="0" u="none" strike="noStrike">
              <a:solidFill>
                <a:srgbClr val="D1D5DB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• 前端界面开发 (陈泽浩)</a:t>
            </a:r>
            <a:endParaRPr lang="en-US" sz="1200" b="0" i="0" u="none" strike="noStrike">
              <a:solidFill>
                <a:srgbClr val="D1D5DB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• 单元测试与集成测试</a:t>
            </a:r>
            <a:endParaRPr lang="en-US" sz="1200" b="0" i="0" u="none" strike="noStrike">
              <a:solidFill>
                <a:srgbClr val="D1D5DB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</a:p>
          <a:p>
            <a:pPr indent="0" algn="l">
              <a:lnSpc>
                <a:spcPct val="125000"/>
              </a:lnSpc>
            </a:pPr>
            <a:r>
              <a:rPr lang="en-US" sz="1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4. 部署上线阶段</a:t>
            </a:r>
            <a:endParaRPr lang="en-US" sz="1200" b="1" i="0" u="none" strike="noStrike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• 服务器配置与环境搭建</a:t>
            </a:r>
            <a:endParaRPr lang="en-US" sz="1200" b="0" i="0" u="none" strike="noStrike">
              <a:solidFill>
                <a:srgbClr val="D1D5DB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• 灰度发布与监控</a:t>
            </a:r>
            <a:endParaRPr lang="en-US" sz="1200" b="0" i="0" u="none" strike="noStrike">
              <a:solidFill>
                <a:srgbClr val="D1D5DB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04 项目规划：可量化的验收标准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07000" cy="4699000"/>
          </a:xfrm>
          <a:prstGeom prst="roundRect">
            <a:avLst>
              <a:gd name="adj" fmla="val 3243"/>
            </a:avLst>
          </a:prstGeom>
          <a:solidFill>
            <a:srgbClr val="1A1C23">
              <a:alpha val="90000"/>
            </a:srgbClr>
          </a:solidFill>
          <a:ln w="12700" cap="flat" cmpd="sng">
            <a:solidFill>
              <a:srgbClr val="8B5CF6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778000"/>
            <a:ext cx="457200" cy="4572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651000" y="1803400"/>
            <a:ext cx="4064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核心功能验收标准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413000"/>
            <a:ext cx="4699000" cy="889000"/>
          </a:xfrm>
          <a:prstGeom prst="roundRect">
            <a:avLst>
              <a:gd name="adj" fmla="val 11428"/>
            </a:avLst>
          </a:prstGeom>
          <a:solidFill>
            <a:srgbClr val="8B5CF6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016000" y="2413000"/>
            <a:ext cx="50800" cy="889000"/>
          </a:xfrm>
          <a:prstGeom prst="roundRect">
            <a:avLst>
              <a:gd name="adj" fmla="val 0"/>
            </a:avLst>
          </a:prstGeom>
          <a:solidFill>
            <a:srgbClr val="8B5C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206500" y="2540000"/>
            <a:ext cx="4381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AI助手界面响应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206500" y="2921000"/>
            <a:ext cx="43815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D1D5D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页面加载正常无报错，交互响应时间需</a:t>
            </a:r>
            <a:r>
              <a:rPr lang="en-US" sz="1200" b="1" i="0" u="none" strike="noStrike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≤ 1秒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16000" y="3429000"/>
            <a:ext cx="4699000" cy="889000"/>
          </a:xfrm>
          <a:prstGeom prst="roundRect">
            <a:avLst>
              <a:gd name="adj" fmla="val 11428"/>
            </a:avLst>
          </a:prstGeom>
          <a:solidFill>
            <a:srgbClr val="8B5CF6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1016000" y="3429000"/>
            <a:ext cx="50800" cy="889000"/>
          </a:xfrm>
          <a:prstGeom prst="roundRect">
            <a:avLst>
              <a:gd name="adj" fmla="val 0"/>
            </a:avLst>
          </a:prstGeom>
          <a:solidFill>
            <a:srgbClr val="8B5C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1206500" y="3556000"/>
            <a:ext cx="4381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漏洞场景触发率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206500" y="3937000"/>
            <a:ext cx="43815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D1D5D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基础注入Payload需</a:t>
            </a:r>
            <a:r>
              <a:rPr lang="en-US" sz="1200" b="1" i="0" u="none" strike="noStrike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100% 成功</a:t>
            </a:r>
            <a:r>
              <a:rPr lang="en-US" sz="1200" b="0" i="0" u="none" strike="noStrike">
                <a:solidFill>
                  <a:srgbClr val="D1D5D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触发，并正确返回 `flag`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016000" y="4445000"/>
            <a:ext cx="4699000" cy="889000"/>
          </a:xfrm>
          <a:prstGeom prst="roundRect">
            <a:avLst>
              <a:gd name="adj" fmla="val 11428"/>
            </a:avLst>
          </a:prstGeom>
          <a:solidFill>
            <a:srgbClr val="8B5CF6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1016000" y="4445000"/>
            <a:ext cx="50800" cy="889000"/>
          </a:xfrm>
          <a:prstGeom prst="roundRect">
            <a:avLst>
              <a:gd name="adj" fmla="val 0"/>
            </a:avLst>
          </a:prstGeom>
          <a:solidFill>
            <a:srgbClr val="8B5C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1206500" y="4572000"/>
            <a:ext cx="4381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积分与状态一致性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206500" y="4953000"/>
            <a:ext cx="43815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D1D5D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挑战成功后积分</a:t>
            </a:r>
            <a:r>
              <a:rPr lang="en-US" sz="1200" b="1" i="0" u="none" strike="noStrike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100% 正确增加</a:t>
            </a:r>
            <a:r>
              <a:rPr lang="en-US" sz="1200" b="0" i="0" u="none" strike="noStrike">
                <a:solidFill>
                  <a:srgbClr val="D1D5D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，且无重复计分Bug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016000" y="5461000"/>
            <a:ext cx="4699000" cy="635000"/>
          </a:xfrm>
          <a:prstGeom prst="roundRect">
            <a:avLst>
              <a:gd name="adj" fmla="val 16000"/>
            </a:avLst>
          </a:prstGeom>
          <a:solidFill>
            <a:srgbClr val="8B5CF6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1016000" y="5461000"/>
            <a:ext cx="50800" cy="635000"/>
          </a:xfrm>
          <a:prstGeom prst="roundRect">
            <a:avLst>
              <a:gd name="adj" fmla="val 0"/>
            </a:avLst>
          </a:prstGeom>
          <a:solidFill>
            <a:srgbClr val="8B5C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1206500" y="5562600"/>
            <a:ext cx="43815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教学内容展示：</a:t>
            </a:r>
            <a:r>
              <a:rPr lang="en-US" sz="1200" b="0" i="0" u="none" strike="noStrike">
                <a:solidFill>
                  <a:srgbClr val="D1D5D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挑战说明清晰易懂，代码片段渲染格式正常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223000" y="1524000"/>
            <a:ext cx="5207000" cy="4699000"/>
          </a:xfrm>
          <a:prstGeom prst="roundRect">
            <a:avLst>
              <a:gd name="adj" fmla="val 3243"/>
            </a:avLst>
          </a:prstGeom>
          <a:solidFill>
            <a:srgbClr val="1A1C23">
              <a:alpha val="90000"/>
            </a:srgbClr>
          </a:solidFill>
          <a:ln w="12700" cap="flat" cmpd="sng">
            <a:solidFill>
              <a:srgbClr val="8B5CF6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1778000"/>
            <a:ext cx="457200" cy="4572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7112000" y="1803400"/>
            <a:ext cx="4064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集成与兼容性验收标准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477000" y="2413000"/>
            <a:ext cx="4699000" cy="1143000"/>
          </a:xfrm>
          <a:prstGeom prst="roundRect">
            <a:avLst>
              <a:gd name="adj" fmla="val 8888"/>
            </a:avLst>
          </a:prstGeom>
          <a:solidFill>
            <a:srgbClr val="8B5CF6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6477000" y="2413000"/>
            <a:ext cx="50800" cy="1143000"/>
          </a:xfrm>
          <a:prstGeom prst="roundRect">
            <a:avLst>
              <a:gd name="adj" fmla="val 0"/>
            </a:avLst>
          </a:prstGeom>
          <a:solidFill>
            <a:srgbClr val="8B5C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6667500" y="25654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插件部署集成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667500" y="29464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D1D5D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插件可通过标准扩展流程，无缝部署到</a:t>
            </a:r>
            <a:r>
              <a:rPr lang="en-US" sz="1200" b="1" i="0" u="none" strike="noStrike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最新版 Juice Shop</a:t>
            </a:r>
            <a:r>
              <a:rPr lang="en-US" sz="1200" b="0" i="0" u="none" strike="noStrike">
                <a:solidFill>
                  <a:srgbClr val="D1D5D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环境中运行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477000" y="3683000"/>
            <a:ext cx="4699000" cy="1143000"/>
          </a:xfrm>
          <a:prstGeom prst="roundRect">
            <a:avLst>
              <a:gd name="adj" fmla="val 8888"/>
            </a:avLst>
          </a:prstGeom>
          <a:solidFill>
            <a:srgbClr val="8B5CF6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6477000" y="3683000"/>
            <a:ext cx="50800" cy="1143000"/>
          </a:xfrm>
          <a:prstGeom prst="roundRect">
            <a:avLst>
              <a:gd name="adj" fmla="val 0"/>
            </a:avLst>
          </a:prstGeom>
          <a:solidFill>
            <a:srgbClr val="8B5C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6667500" y="38354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核心系统对接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6667500" y="42164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D1D5D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与后端积分榜、用户进度记录系统实现</a:t>
            </a:r>
            <a:r>
              <a:rPr lang="en-US" sz="1200" b="1" i="0" u="none" strike="noStrike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数据实时互通</a:t>
            </a:r>
            <a:r>
              <a:rPr lang="en-US" sz="1200" b="0" i="0" u="none" strike="noStrike">
                <a:solidFill>
                  <a:srgbClr val="D1D5D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，无接口报错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6477000" y="4953000"/>
            <a:ext cx="4699000" cy="1143000"/>
          </a:xfrm>
          <a:prstGeom prst="roundRect">
            <a:avLst>
              <a:gd name="adj" fmla="val 8888"/>
            </a:avLst>
          </a:prstGeom>
          <a:solidFill>
            <a:srgbClr val="8B5CF6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34"/>
          <p:cNvSpPr/>
          <p:nvPr/>
        </p:nvSpPr>
        <p:spPr>
          <a:xfrm>
            <a:off x="6477000" y="4953000"/>
            <a:ext cx="50800" cy="1143000"/>
          </a:xfrm>
          <a:prstGeom prst="roundRect">
            <a:avLst>
              <a:gd name="adj" fmla="val 0"/>
            </a:avLst>
          </a:prstGeom>
          <a:solidFill>
            <a:srgbClr val="8B5C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35"/>
          <p:cNvSpPr/>
          <p:nvPr/>
        </p:nvSpPr>
        <p:spPr>
          <a:xfrm>
            <a:off x="6667500" y="51054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多环境兼容性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6667500" y="54864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D1D5D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支持在标准 Docker 容器中稳定运行，并完美兼容 Chrome/Firefox 等主流浏览器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05 总结与展望：回顾成果，展望未来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4826000" cy="4191000"/>
          </a:xfrm>
          <a:prstGeom prst="roundRect">
            <a:avLst>
              <a:gd name="adj" fmla="val 3636"/>
            </a:avLst>
          </a:prstGeom>
          <a:solidFill>
            <a:srgbClr val="1F2937">
              <a:alpha val="90000"/>
            </a:srgbClr>
          </a:solidFill>
          <a:ln w="12700" cap="flat" cmpd="sng">
            <a:solidFill>
              <a:srgbClr val="8B5CF6">
                <a:alpha val="7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79500" y="19685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PROJECT SUMMARY / 项目总结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79500" y="2540000"/>
            <a:ext cx="4191000" cy="25400"/>
          </a:xfrm>
          <a:prstGeom prst="roundRect">
            <a:avLst>
              <a:gd name="adj" fmla="val 0"/>
            </a:avLst>
          </a:prstGeom>
          <a:solidFill>
            <a:srgbClr val="8B5CF6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079500" y="2921000"/>
            <a:ext cx="4191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本项目成功地将前沿的AI安全风险引入主流Web安全教学平台，构建了一个集“学习-实践-防御”于一体的完整教学闭环。</a:t>
            </a:r>
            <a:endParaRPr lang="en-US" sz="1100"/>
          </a:p>
          <a:p>
            <a:pPr indent="0" algn="l">
              <a:lnSpc>
                <a:spcPct val="133000"/>
              </a:lnSpc>
            </a:pPr>
            <a:r>
              <a:rPr lang="en-US" sz="1200" b="0" i="0" u="none" strike="noStrike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这不仅为广大安全学习者提供了接触AI安全的宝贵实战资源，更充分体现了我们团队在安全研究与工程落地方面的综合技术能力。</a:t>
            </a:r>
            <a:endParaRPr lang="en-US" sz="1200" b="0" i="0" u="none" strike="noStrike">
              <a:solidFill>
                <a:srgbClr val="E5E7EB">
                  <a:alpha val="90196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5842000" y="1651000"/>
            <a:ext cx="2667000" cy="1905000"/>
          </a:xfrm>
          <a:prstGeom prst="roundRect">
            <a:avLst>
              <a:gd name="adj" fmla="val 8000"/>
            </a:avLst>
          </a:prstGeom>
          <a:solidFill>
            <a:srgbClr val="1F2937">
              <a:alpha val="90000"/>
            </a:srgbClr>
          </a:solidFill>
          <a:ln w="12700" cap="flat" cmpd="sng">
            <a:solidFill>
              <a:srgbClr val="8B5CF6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0" y="1905000"/>
            <a:ext cx="508000" cy="508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858000" y="1905000"/>
            <a:ext cx="152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提交上游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858000" y="2413000"/>
            <a:ext cx="1460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D1D5D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将插件提交至Juice Shop官方仓库，争取成为官方标准功能。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763000" y="1651000"/>
            <a:ext cx="2667000" cy="1905000"/>
          </a:xfrm>
          <a:prstGeom prst="roundRect">
            <a:avLst>
              <a:gd name="adj" fmla="val 8000"/>
            </a:avLst>
          </a:prstGeom>
          <a:solidFill>
            <a:srgbClr val="1F2937">
              <a:alpha val="90000"/>
            </a:srgbClr>
          </a:solidFill>
          <a:ln w="12700" cap="flat" cmpd="sng">
            <a:solidFill>
              <a:srgbClr val="8B5CF6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17000" y="1905000"/>
            <a:ext cx="508000" cy="508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9779000" y="1905000"/>
            <a:ext cx="152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扩展漏洞场景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9779000" y="2413000"/>
            <a:ext cx="1460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D1D5D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引入更多类型的提示注入变体，增加攻防挑战的深度与广度。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5842000" y="3810000"/>
            <a:ext cx="2667000" cy="1905000"/>
          </a:xfrm>
          <a:prstGeom prst="roundRect">
            <a:avLst>
              <a:gd name="adj" fmla="val 8000"/>
            </a:avLst>
          </a:prstGeom>
          <a:solidFill>
            <a:srgbClr val="1F2937">
              <a:alpha val="90000"/>
            </a:srgbClr>
          </a:solidFill>
          <a:ln w="12700" cap="flat" cmpd="sng">
            <a:solidFill>
              <a:srgbClr val="8B5CF6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96000" y="4064000"/>
            <a:ext cx="508000" cy="5080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858000" y="4064000"/>
            <a:ext cx="152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强化教学内容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858000" y="4572000"/>
            <a:ext cx="1460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D1D5D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开发配套视频教程与交互式学习路径，降低用户上手门槛。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763000" y="3810000"/>
            <a:ext cx="2667000" cy="1905000"/>
          </a:xfrm>
          <a:prstGeom prst="roundRect">
            <a:avLst>
              <a:gd name="adj" fmla="val 8000"/>
            </a:avLst>
          </a:prstGeom>
          <a:solidFill>
            <a:srgbClr val="1F2937">
              <a:alpha val="90000"/>
            </a:srgbClr>
          </a:solidFill>
          <a:ln w="12700" cap="flat" cmpd="sng">
            <a:solidFill>
              <a:srgbClr val="8B5CF6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017000" y="4064000"/>
            <a:ext cx="508000" cy="5080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9779000" y="4064000"/>
            <a:ext cx="152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性能优化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9779000" y="4572000"/>
            <a:ext cx="1460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D1D5D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持续优化后端服务性能，确保在高并发场景下的系统稳定性。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032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048000"/>
            <a:ext cx="1219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9600" b="1" i="0" u="none" strike="noStrike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Q &amp; A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4699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THANKS FOR LISTENING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3668</Words>
  <Application>WPS 演示</Application>
  <PresentationFormat/>
  <Paragraphs>371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26" baseType="lpstr">
      <vt:lpstr>Arial</vt:lpstr>
      <vt:lpstr>宋体</vt:lpstr>
      <vt:lpstr>Wingdings</vt:lpstr>
      <vt:lpstr>Arial</vt:lpstr>
      <vt:lpstr>Noto Sans SC</vt:lpstr>
      <vt:lpstr>Segoe Print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闲云</cp:lastModifiedBy>
  <cp:revision>1</cp:revision>
  <dcterms:created xsi:type="dcterms:W3CDTF">2026-04-27T14:47:17Z</dcterms:created>
  <dcterms:modified xsi:type="dcterms:W3CDTF">2026-04-27T14:47:17Z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CF5160A585AF4F30948C9166D4A3B620_12</vt:lpwstr>
  </property>
  <property fmtid="{D5CDD505-2E9C-101B-9397-08002B2CF9AE}" pid="3" name="KSOProductBuildVer">
    <vt:lpwstr>2052-12.1.0.25865</vt:lpwstr>
  </property>
</Properties>
</file>