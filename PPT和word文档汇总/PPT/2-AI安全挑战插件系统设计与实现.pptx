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5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大家好，今天我们将为大家详细介绍我们团队的项目——AI安全挑战插件的系统设计与实现。这个项目旨在集成于OWASP Juice Shop，为用户提供一个安全、可控的AI安全教学和练习环境。接下来，我们将从项目概述、系统设计、技术方案和开发总结四个方面展开介绍。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会介绍项目的背景、目标和核心设计理念。接着，将深入剖析系统的详细设计，包括需求映射、分层架构以及通过UML图进行的架构可视化。第三部分，我们会展示具体的技术方案，包括技术选型、数据库设计和关键算法。最后，我们会分享团队的编码规范以及项目的总结与反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首先来看项目概述。我们的项目是一个集成在OWASP Juice Shop中的AI安全挑战插件。核心目标是构建一个真实的、可交互的AI安全教学环境。我们的设计原则是批判性地使用AI辅助，确保方案的安全性和原创性。在设计理念上，我们遵循从需求出发，通过需求映射、分层架构和系统架构设计，最终实现一个满足用户需求的高质量软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部分，系统设计详解。我们首先将用户的核心需求映射到具体的技术实现上。例如，为了实现AI对话交互，我们采用了Angular前端和Express后端API；为了安全地触发提示注入漏洞，我们设计了一个本地的LLM模拟服务，避免了调用真实API带来的风险和成本。每个功能点都配备了相应的安全保障措施，确保系统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在与AI协作的过程中，我们秉持批判和改进的态度。例如，我们没有直接采纳AI建议的真实OpenAI API，而是开发了本地模拟服务，以控制成本和风险。我们也拒绝了不安全的MD5算法，选择了更安全的bcrypt。在架构上，我们放弃了复杂的微服务，采用了更适合项目规模的插件式单体架构，从而显著提升了开发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我们的系统采用了经典的四层分层架构，旨在实现关注点分离，提高系统的可维护性和扩展性。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第一层是表现层，它负责与用户直接交互。我们使用 Angular 15 框架构建，核心组件包括AI对话组件和挑战列表组件，主要职责是处理UI交互与用户输入输出。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第二层是业务逻辑层，这是系统的核心，负责处理所有的核心业务规则与流程控制。关键模块包括 AiChallengeController 和 PromptInjectionDetector，它们决定了挑战如何运行以及如何检测攻击。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第三层是数据访问层，负责封装底层的数据库操作，技术上我们选用了 Sequelize ORM，主要提供用户进度查询和积分写入等功能，将数据操作从业务逻辑中剥离出来。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最后一层是基础设施层，它为上层提供跨层级的通用服务。为了最大化开发效率，我们复用了 Juice Shop 原有的日志系统、缓存服务和权限验证体系。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这种架构不仅让代码结构清晰，也便于我们未来进行功能扩展和维护。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这是我们系统的UML部署图。可以看到，用户通过浏览器访问Juice Shop，我们的AI安全挑战插件作为一个模块无缝集成在后端的Express服务中。它与现有的MySQL数据库和Redis缓存进行交互，整个架构清晰且高效。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这张模块划分图展示了插件内部的结构。前端分为对话、挑战列表等模块，后端则包含了控制器、注入检测、LLM模拟等核心功能模块。这种清晰的模块化划分，使得各个部分职责明确，便于独立开发和维护。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类图详细描述了后端各个关键类的结构和它们之间的交互关系。例如，`AiChallengeController`作为入口，调用`PromptInjectionDetector`进行检测，并通过`LlmMockService`模拟响应，最后由`ChallengeScoreService`更新积分。这张图是我们进行详细编码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这张时序图生动地展示了一个完整的用户挑战流程。从用户输入攻击指令开始，经过后端控制器、注入检测、LLM模拟，最后到积分和进度更新，整个过程清晰可见。这确保了我们对系统动态行为有准确的把握。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接下来是第三部分，技术方案设计。我们的技术选型完全遵循了Juice Shop的原生技术栈，包括前端的Angular，后端的Node.js和Express，以及MySQL和Redis。这样做的好处是无缝集成，开发成本低。同时，我们使用了Docker进行容器化，并引入了SonarQube等工具来保证代码质量和安全性。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数据库ER图。它定义了用户、挑战、进度等核心实体以及它们之间的关系。例如，一个用户可以有多个挑战进度，而一个挑战可以包含多个用于教学的漏洞代码片段。这个设计保证了数据的完整性和关联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到数据表，我们主要设计了三张核心表：用户挑战进度表、攻击载荷表和漏洞代码表。这些表结构简洁，能够高效地支持我们的业务逻辑。值得一提的是，我们对AI初始设计的7张表进行了优化，通过合并和关联，最终得到了这3张既符合范式又查询高效的表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关键算法方面，我们设计了用于提示注入检测的混合方案。它首先通过正则表达式快速匹配已知攻击模式，然后通过语义特征分析来识别潜在的未知攻击。这种方案兼顾了准确率和性能，单条输入的检测时间小于1毫秒，完全满足实时检测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技术方案的可行性，我们开发了技术原型并进行了全面测试。无论是AI对话交互、漏洞触发，还是积分发放和进度记录，核心功能都得到了验证。测试结果显示，原型在功能、性能、兼容性和集成性方面都表现良好，为后续的开发工作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介绍一下开发规范与总结。一个好的项目离不开规范的开发流程。我们制定了详细的编码规范，涵盖命名规则、代码格式、注释要求等，并使用Prettier等工具来保证风格统一。在设计上，我们遵循设计原则，并建立了统一的异常处理和日志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成功地完成了AI安全挑战插件的设计与原型实现。在这个过程中，AI作为强大的辅助工具，极大地提高了我们的效率。但更重要的是，我们坚持批判性思维，对AI的建议进行优化，做出了更符合项目实际的决策。安全始终是我们的首要考量。从数据上看，我们的架构调整显著提升了开发效率，核心算法和原型也表现出优异的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3.svg"/><Relationship Id="rId7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4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2.svg"/><Relationship Id="rId1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11.sv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image" Target="../media/image72.sv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4.svg"/><Relationship Id="rId3" Type="http://schemas.openxmlformats.org/officeDocument/2006/relationships/image" Target="../media/image73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68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AI安全挑战插件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699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汇报人：BOTS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2159000"/>
            <a:ext cx="101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159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项目概述与设计思想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项目背景与目标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设计理念：从需求到实现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40500" y="2159000"/>
            <a:ext cx="101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47000" y="2159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系统设计详解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需求映射与技术实现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分层架构设计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架构可视化：UML图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572000"/>
            <a:ext cx="101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4572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技术方案设计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技术选型与工具链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关键算法与原型验证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31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4572000"/>
            <a:ext cx="101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747000" y="4572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开发规范与总结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团队编码规范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总结与反思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项目概述与设计思想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项目背景与目标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项目名称：</a:t>
            </a: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AI安全挑战插件（集成于OWASP Juice Shop）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将用户需求转化为一个可运行、可维护的软件系统，用于教学和练习AI安全，构建真实的攻防环境。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核心任务：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解决“如何做”的问题，落实技术架构、模块设计与编码规范，构建标准化的安全挑战环境。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• 设计原则：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坚持“理解、批判、改进”，利用大模型辅助但拒绝直接复制，确保方案的安全性与可行性。</a:t>
            </a:r>
            <a:endParaRPr lang="en-US" sz="1300" b="0" i="0" u="none" strike="noStrike">
              <a:solidFill>
                <a:srgbClr val="CCCCC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设计理念：从需求到实现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0" y="28829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857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核心命题：</a:t>
            </a: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软件系统如何解决用户的核心需求？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683000"/>
            <a:ext cx="1473200" cy="2032000"/>
          </a:xfrm>
          <a:prstGeom prst="roundRect">
            <a:avLst>
              <a:gd name="adj" fmla="val 6896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3937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40500" y="4826000"/>
            <a:ext cx="1346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需求映射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将功能点明确映射到具体的技术实现方案中</a:t>
            </a:r>
            <a:endParaRPr lang="en-US" sz="12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89900" y="3683000"/>
            <a:ext cx="1473200" cy="2032000"/>
          </a:xfrm>
          <a:prstGeom prst="roundRect">
            <a:avLst>
              <a:gd name="adj" fmla="val 6896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0900" y="3937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53400" y="4826000"/>
            <a:ext cx="1346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实现关注点分离，提升开发效率与可维护性</a:t>
            </a:r>
            <a:endParaRPr lang="en-US" sz="12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702800" y="3683000"/>
            <a:ext cx="1473200" cy="2032000"/>
          </a:xfrm>
          <a:prstGeom prst="roundRect">
            <a:avLst>
              <a:gd name="adj" fmla="val 6896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83800" y="3937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66300" y="4826000"/>
            <a:ext cx="1346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保障系统的稳定性、可扩展性与安全性</a:t>
            </a:r>
            <a:endParaRPr lang="en-US" sz="12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需求映射与技术实现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本项目将核心需求与技术实现方案进行了明确映射，确保每个功能模块都有对应的底层逻辑支撑，并配备完善的安全保障机制。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2032000" cy="3175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3200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AI助手对话交互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93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前端 Angular 组件构建交互界面，后端通过 Express 提供 RESTful API 处理请求。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安全保障：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输入长度限制、特殊字符过滤及用户会话隔离。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84500" y="3048000"/>
            <a:ext cx="2032000" cy="3175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000" y="323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56000" y="3200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提示注入漏洞触发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11500" y="393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LlmMockService 模拟大模型行为，内置可控的逻辑漏洞，实现低成本、安全的漏洞模拟。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1115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安全保障：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漏洞开关控制、仅限练习模式生效，永不调用真实LLM。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3048000"/>
            <a:ext cx="2032000" cy="3175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7500" y="3238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78500" y="3200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提示注入检测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393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PromptInjectionDetector 模块，结合正则匹配与语义特征分析双重机制。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34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安全保障：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严格控制误报率，建立典型攻击Payload库定期更新机制。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3048000"/>
            <a:ext cx="2032000" cy="3175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0" y="3238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001000" y="3200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积分与进度记录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556500" y="393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 Juice Shop 原生 ChallengeScoreService，实现分数的自动计算与同步。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565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安全保障：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防重复计分校验、用户身份Token验证及数据库事务控制。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3048000"/>
            <a:ext cx="2032000" cy="3175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2500" y="3238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223500" y="3200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漏洞代码展示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79000" y="393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VulnerableCodeService 提供真实的脆弱代码片段，前端实现语法高亮展示。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779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安全保障：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代码运行环境完全沙箱隔离、禁止执行任何代码及敏感信息自动脱敏。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AI协作反思：方案的优化与抉择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 服务选择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302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初始建议：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直接调用真实 OpenAI API 实现功能，快速接入。</a:t>
            </a:r>
            <a:endParaRPr lang="en-US" sz="12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57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87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痛点：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成本高、不可控且存在外部调用风险。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✅ 方案：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自建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LlmMockService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本地模拟服务，实现完全可控且无外部依赖，更适合教学场景。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加密算法升级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62500" y="3302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初始建议：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采用经典的 MD5 算法进行密码哈希处理。</a:t>
            </a:r>
            <a:endParaRPr lang="en-US" sz="12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635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62500" y="457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87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痛点：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MD5 已被证实安全性低，极易被暴力破解。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✅ 方案：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全面替换为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bcrypt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算法，利用其自适应哈希特性，显著提升系统安全性。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60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265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系统架构调整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445500" y="3302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初始建议：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设计为微服务架构，强调模块化与可扩展性。</a:t>
            </a:r>
            <a:endParaRPr lang="en-US" sz="12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318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445500" y="457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87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痛点：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对小团队插件项目过于臃肿，维护与部署成本过高。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✅ 方案：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采用轻量级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插件式单体架构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，无缝融入 Juice Shop，使开发与迭代效率提升 60%+。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采用前后端分离的插件式分层架构，实现高效开发与模块解耦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63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257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0955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核心职责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 UI 交互渲染，处理用户的输入与输出展示，屏蔽底层数据细节。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关键技术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Angular 15 框架开发。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🔑 核心组件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智能对话组件、挑战任务列表组件、用户仪表盘。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463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4257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048000"/>
            <a:ext cx="20955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核心职责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作为系统“大脑”，封装并处理核心业务规则、权限校验与复杂流程控制。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📦 核心模块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AiChallengeController、PromptInjectionDetector、LlmMockService。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463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4257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048000"/>
            <a:ext cx="20955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核心职责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统一封装底层数据库操作，实现业务逻辑与数据存储的彻底解耦。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关键技术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Sequelize ORM 框架，支持多种数据库类型。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📝 主要功能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用户挑战进度的实时查询、积分变动的原子性写入、挑战记录的持久化。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9535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953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463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88500" y="24257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基础设施层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048000"/>
            <a:ext cx="20955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核心职责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提供系统跨层级的通用支撑能力，确保上层模块专注于核心业务。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🔗 复用集成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充分复用 Juice Shop 已有的成熟基础设施服务，避免重复造轮子。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核心服务</a:t>
            </a:r>
            <a:endParaRPr lang="en-US" sz="1300" b="1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应用日志记录、Redis 缓存服务、统一身份与权限验证体系。</a:t>
            </a:r>
            <a:endParaRPr lang="en-US" sz="1200" b="0" i="0" u="none" strike="noStrike">
              <a:solidFill>
                <a:srgbClr val="DDDDD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系统设计详解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2314" b="2314"/>
          <a:stretch>
            <a:fillRect/>
          </a:stretch>
        </p:blipFill>
        <p:spPr>
          <a:xfrm>
            <a:off x="762000" y="1905000"/>
            <a:ext cx="4826000" cy="4064000"/>
          </a:xfrm>
          <a:prstGeom prst="rect">
            <a:avLst/>
          </a:prstGeom>
          <a:noFill/>
          <a:ln w="25400" cap="flat" cmpd="sng">
            <a:solidFill>
              <a:srgbClr val="00FF7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096000" y="190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架构可视化：UML部署图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27940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下图展示了系统的物理部署关系。用户通过浏览器访问 Juice Shop，我们的插件作为一个功能模块，被无缝集成在后端 Express 服务中。该架构不仅保持了系统的整洁性，还最大化地复用了原有的 MySQL 数据库和 Redis 缓存组件，确保了性能与稳定性。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4445000"/>
            <a:ext cx="5334000" cy="1651000"/>
          </a:xfrm>
          <a:prstGeom prst="roundRect">
            <a:avLst>
              <a:gd name="adj" fmla="val 6153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469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858000" y="4673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核心交互流程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533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用户浏览器 → Nginx → Juice Shop (Angular+Express) →</a:t>
            </a: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AI 安全挑战插件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→ MySQL / Redis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8565" b="18565"/>
          <a:stretch>
            <a:fillRect/>
          </a:stretch>
        </p:blipFill>
        <p:spPr>
          <a:xfrm>
            <a:off x="952500" y="2159000"/>
            <a:ext cx="2667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89000" y="495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架构可视化：模块划分图</a:t>
            </a:r>
            <a:b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清晰展示插件前后端职责边界与交互关系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1778000"/>
            <a:ext cx="3556000" cy="4318000"/>
          </a:xfrm>
          <a:prstGeom prst="roundRect">
            <a:avLst>
              <a:gd name="adj" fmla="val 2857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191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000" y="215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0" y="21082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前端交互模块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3048000"/>
            <a:ext cx="304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对话交互：用户与系统的核心交互界面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挑战列表：展示所有可用的CTF挑战关卡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代码展示：实时渲染并展示安全代码片段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进度反馈：即时展示挑战进度与得分情况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1778000"/>
            <a:ext cx="3556000" cy="4318000"/>
          </a:xfrm>
          <a:prstGeom prst="roundRect">
            <a:avLst>
              <a:gd name="adj" fmla="val 2857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1082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后端核心服务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3048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核心控制器：统筹业务逻辑与请求分发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注入检测：实时分析并阻断恶意SQL注入行为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LLM模拟：模拟大模型响应，提供代码解释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积分对接：与平台积分系统打通，同步战绩</a:t>
            </a:r>
            <a:b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代码与数据：统一管理代码资源与用户数据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架构可视化：核心类图</a:t>
            </a: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| Core Class Diagram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下图展示了后端核心类的静态结构、关键属性和方法，以及它们之间的调用与依赖关系。这是数据库表结构设计、业务逻辑代码实现以及前后端接口定义的直接技术依据。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683000"/>
            <a:ext cx="10668000" cy="2667000"/>
          </a:xfrm>
          <a:prstGeom prst="roundRect">
            <a:avLst>
              <a:gd name="adj" fmla="val 5714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937000"/>
            <a:ext cx="406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核心实体与服务 Core Entities &amp; Services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AiChallengeController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- 业务入口控制器，处理前端请求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PromptInjectionDetector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- 提示词注入安全检测服务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LlmMockService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- 模拟大模型响应的接口层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ChallengeScoreService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- 积分计算与排行榜逻辑服务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UserProgressModel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- 用户挑战进度与状态数据模型</a:t>
            </a:r>
            <a:endParaRPr lang="en-US" sz="13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l="8818" r="8818"/>
          <a:stretch>
            <a:fillRect/>
          </a:stretch>
        </p:blipFill>
        <p:spPr>
          <a:xfrm>
            <a:off x="5334000" y="4000500"/>
            <a:ext cx="5588000" cy="2032000"/>
          </a:xfrm>
          <a:prstGeom prst="rect">
            <a:avLst/>
          </a:prstGeom>
          <a:noFill/>
          <a:ln w="12700" cap="flat" cmpd="sng">
            <a:solidFill>
              <a:srgbClr val="52525B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架构可视化：关键时序图</a:t>
            </a: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| 完整的挑战交互与漏洞触发链路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0121" r="20121"/>
          <a:stretch>
            <a:fillRect/>
          </a:stretch>
        </p:blipFill>
        <p:spPr>
          <a:xfrm>
            <a:off x="762000" y="2286000"/>
            <a:ext cx="4826000" cy="3810000"/>
          </a:xfrm>
          <a:prstGeom prst="rect">
            <a:avLst/>
          </a:prstGeom>
          <a:noFill/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969000" y="2286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969000" y="228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159500" y="2413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用户在前端界面输入精心构造的攻击指令，作为挑战的第一步。</a:t>
            </a:r>
            <a:endParaRPr lang="en-US" sz="1200" b="0" i="0" u="none" strike="noStrike">
              <a:solidFill>
                <a:srgbClr val="BEBEB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017000" y="2286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17000" y="228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207500" y="2413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请求发送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请求通过API网关发送至后端核心逻辑层的 `AiChallengeController`。</a:t>
            </a:r>
            <a:endParaRPr lang="en-US" sz="1200" b="0" i="0" u="none" strike="noStrike">
              <a:solidFill>
                <a:srgbClr val="BEBEB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69000" y="3810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69000" y="381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59500" y="393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攻击检测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由 `PromptInjectionDetector` 组件深度分析输入内容，判定为有效注入攻击。</a:t>
            </a:r>
            <a:endParaRPr lang="en-US" sz="1200" b="0" i="0" u="none" strike="noStrike">
              <a:solidFill>
                <a:srgbClr val="BEBEB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017000" y="3810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017000" y="381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207500" y="393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 模拟响应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`LlmMockService` 模拟大模型的漏洞行为，向用户“意外”泄露预设的敏感信息。</a:t>
            </a:r>
            <a:endParaRPr lang="en-US" sz="1200" b="0" i="0" u="none" strike="noStrike">
              <a:solidFill>
                <a:srgbClr val="BEBEB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969000" y="5207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9690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159500" y="533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积分实时更新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`ChallengeScoreService` 触发奖励机制，为成功利用漏洞的用户增加积分。</a:t>
            </a:r>
            <a:endParaRPr lang="en-US" sz="1200" b="0" i="0" u="none" strike="noStrike">
              <a:solidFill>
                <a:srgbClr val="BEBEB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017000" y="5207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170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207500" y="533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进度状态同步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更新 `UserProgressModel`，标记挑战为“已完成”，并更新用户成就。</a:t>
            </a:r>
            <a:endParaRPr lang="en-US" sz="1200" b="0" i="0" u="none" strike="noStrike">
              <a:solidFill>
                <a:srgbClr val="BEBEB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8333" b="8333"/>
          <a:stretch>
            <a:fillRect/>
          </a:stretch>
        </p:blipFill>
        <p:spPr>
          <a:xfrm>
            <a:off x="1016000" y="1714500"/>
            <a:ext cx="762000" cy="762000"/>
          </a:xfrm>
          <a:prstGeom prst="roundRect">
            <a:avLst>
              <a:gd name="adj" fmla="val 1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032000" y="1651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架构风格：插件式前后端分离单体架构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选型理由：完全兼容 OWASP Juice Shop 原生技术体系，最大程度降低开发与系统集成难度，兼顾性能与成本。</a:t>
            </a:r>
            <a:endParaRPr lang="en-US" sz="14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2599" b="2600"/>
          <a:stretch>
            <a:fillRect/>
          </a:stretch>
        </p:blipFill>
        <p:spPr>
          <a:xfrm>
            <a:off x="952500" y="3111500"/>
            <a:ext cx="635000" cy="635000"/>
          </a:xfrm>
          <a:prstGeom prst="roundRect">
            <a:avLst>
              <a:gd name="adj" fmla="val 2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714500" y="31115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 Frontend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Angular 15</a:t>
            </a:r>
            <a:b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+ Angular Material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292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7692" b="7692"/>
          <a:stretch>
            <a:fillRect/>
          </a:stretch>
        </p:blipFill>
        <p:spPr>
          <a:xfrm>
            <a:off x="3657600" y="3111500"/>
            <a:ext cx="571500" cy="571500"/>
          </a:xfrm>
          <a:prstGeom prst="roundRect">
            <a:avLst>
              <a:gd name="adj" fmla="val 22222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12471" r="12471"/>
          <a:stretch>
            <a:fillRect/>
          </a:stretch>
        </p:blipFill>
        <p:spPr>
          <a:xfrm>
            <a:off x="4356100" y="3111500"/>
            <a:ext cx="571500" cy="571500"/>
          </a:xfrm>
          <a:prstGeom prst="roundRect">
            <a:avLst>
              <a:gd name="adj" fmla="val 2222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080000" y="311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Node.js 18 LTS</a:t>
            </a:r>
            <a:b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+ Express 4.x 框架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292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62700" y="3111500"/>
            <a:ext cx="635000" cy="635000"/>
          </a:xfrm>
          <a:prstGeom prst="roundRect">
            <a:avLst>
              <a:gd name="adj" fmla="val 2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124700" y="31115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DB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627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b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(兼容 MariaDB)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0" y="292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80500" y="3111500"/>
            <a:ext cx="635000" cy="635000"/>
          </a:xfrm>
          <a:prstGeom prst="roundRect">
            <a:avLst>
              <a:gd name="adj" fmla="val 2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9842500" y="31115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缓存 Cache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Redis 7.0</a:t>
            </a:r>
            <a:b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高性能键值存储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4610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905000" y="5270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DevOps &amp; QA</a:t>
            </a:r>
            <a:b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工具链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191000" y="5334000"/>
            <a:ext cx="698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Git · npm ·</a:t>
            </a: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/ Docker Compose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SonarQube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(代码质量) · OWASP Dependency-Check (依赖检测)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技术方案设计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21294" r="21294"/>
          <a:stretch>
            <a:fillRect/>
          </a:stretch>
        </p:blipFill>
        <p:spPr>
          <a:xfrm>
            <a:off x="762000" y="2032000"/>
            <a:ext cx="5207000" cy="4064000"/>
          </a:xfrm>
          <a:prstGeom prst="rect">
            <a:avLst/>
          </a:prstGeom>
          <a:noFill/>
          <a:ln w="25400" cap="flat" cmpd="sng">
            <a:solidFill>
              <a:srgbClr val="00FF7F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350000" y="190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数据库设计：ER图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2667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该模型清晰定义了系统的核心实体及其逻辑关系，为数据的一致性、扩展性提供坚实的架构基础。图中涵盖了用户、挑战、进度、攻击载荷及漏洞代码五大核心要素。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080000" cy="889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0" y="4064000"/>
            <a:ext cx="76200" cy="635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4000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用户与挑战进度：</a:t>
            </a: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(`Users`) 一对多关联挑战进度 (`AIChallengeProgress`)，精准记录每位用户的学习成长路径。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5080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5207000"/>
            <a:ext cx="76200" cy="508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5143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挑战与引用关系：</a:t>
            </a: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挑战 (`Challenges`) 被多用户进度引用，支持多人同题竞技，复用核心挑战资源。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5969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6096000"/>
            <a:ext cx="76200" cy="508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6032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挑战与漏洞代码：</a:t>
            </a: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挑战包含多段漏洞代码 (`VulnerableCode`)，构建高仿真的实战攻击场景。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用户挑战进度表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ai_challenge_progress</a:t>
            </a:r>
            <a:endParaRPr lang="en-US" sz="1100" b="0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52500" y="2794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记录用户在特定 AI 安全挑战中的参与情况和完成状态，实现挑战进度的持久化追踪。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</a:t>
            </a: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id (PK), user_id (FK), challenge_id (FK), is_completed, completed_at</a:t>
            </a:r>
            <a:endParaRPr lang="en-US" sz="11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96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攻击载荷表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ai_prompt_injection_payloads</a:t>
            </a:r>
            <a:endParaRPr lang="en-US" sz="1100" b="0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35500" y="2794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存储用于测试 AI 模型的 Prompt 注入样本库，支持动态加载和风险分级管理。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</a:t>
            </a: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id (PK), payload, type, risk_level</a:t>
            </a:r>
            <a:endParaRPr lang="en-US" sz="11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96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63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漏洞代码表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ai_vulnerable_codes</a:t>
            </a:r>
            <a:endParaRPr lang="en-US" sz="1100" b="0" i="0" u="none" strike="noStrike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18500" y="2794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关联具体挑战，集中存储漏洞代码片段与修复后的安全代码，便于对比展示与分析。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关键字段：</a:t>
            </a: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id (PK), challenge_id (FK), vuln_code, fixed_code</a:t>
            </a:r>
            <a:endParaRPr lang="en-US" sz="11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62626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20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初始方案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设计了 7 张独立数据表，存在过度拆分、关联冗余的问题，查询效率较低且不符合系统轻量化需求。</a:t>
            </a:r>
            <a:endParaRPr lang="en-US" sz="1200" b="0" i="0" u="none" strike="noStrike">
              <a:solidFill>
                <a:srgbClr val="9696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3000" y="527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520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👥 团队改进优化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合并功能相似表，精简为 3 张核心表，符合第三范式且查询高效；增加与 Juice Shop 原生表的外键关联，确保数据逻辑一致性。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关键算法：提示注入检测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我们设计了“正则匹配 + 语义特征检测”的混合检测方案，兼顾准确率与高性能。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▍ 检测流程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01. 正则匹配：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利用预定义的正则库，快速过滤并匹配已知的典型攻击载荷（如“ignore all previous instructions”），实现首道防线拦截。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02. 语义特征检测：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对未命中正则的输入，分析是否包含多个高风险关键词（如 ignore, system prompt），结合短文本特征，识别潜在的未知注入。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175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342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▍ 性能指标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4191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4165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O(n) (n为输入字符串长度)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4953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4927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空间复杂度：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O(1) (常数级额外空间消耗)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715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5689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单条检测速度：</a:t>
            </a: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&lt; 1 ms</a:t>
            </a: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(满足高并发实时检测需求)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技术原型实现与验证</a:t>
            </a:r>
            <a:r>
              <a:rPr lang="en-US" sz="16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| 核心功能完整落地与全维度测试闭环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6035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AI对话交互与提示注入触发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实现:</a:t>
            </a: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完整AI对话界面，LlmMockService模拟真实响应逻辑</a:t>
            </a:r>
            <a:endParaRPr lang="en-US" sz="13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验证:</a:t>
            </a: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Payload注入成功率</a:t>
            </a: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，响应 &lt; 500ms，交互无卡顿</a:t>
            </a:r>
            <a:endParaRPr lang="en-US" sz="13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2413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667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26035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积分发放与进度记录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实现:</a:t>
            </a: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 Juice Shop 原生积分系统，支持进度持久化存储</a:t>
            </a:r>
            <a:endParaRPr lang="en-US" sz="13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验证:</a:t>
            </a:r>
            <a:r>
              <a:rPr lang="en-US" sz="13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积分实时准确发放，无重复计分；服务重启后状态完整恢复</a:t>
            </a:r>
            <a:endParaRPr lang="en-US" sz="13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95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9276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功能完整性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两个核心业务用例全部通过测试，逻辑覆盖完整，无遗漏场景。</a:t>
            </a:r>
            <a:endParaRPr lang="en-US" sz="1200" b="0" i="0" u="none" strike="noStrike">
              <a:solidFill>
                <a:srgbClr val="AAAAA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4699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500" y="495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191000" y="49276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性能表现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单用户并发10次高频请求，平均响应时间仅</a:t>
            </a:r>
            <a:r>
              <a:rPr lang="en-US" sz="12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320ms</a:t>
            </a:r>
            <a:r>
              <a:rPr lang="en-US" sz="12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，满足流畅交互。</a:t>
            </a:r>
            <a:endParaRPr lang="en-US" sz="1200" b="0" i="0" u="none" strike="noStrike">
              <a:solidFill>
                <a:srgbClr val="AAAAA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4699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95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9276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多端兼容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在 Chrome、Firefox、Edge 三大主流浏览器中功能运行正常，样式无错乱。</a:t>
            </a:r>
            <a:endParaRPr lang="en-US" sz="1200" b="0" i="0" u="none" strike="noStrike">
              <a:solidFill>
                <a:srgbClr val="AAAAA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4699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4500" y="4953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79000" y="49276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系统集成性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插件可无缝部署至 Juice Shop v15.0.0 环境，运行稳定无报错，与系统解耦良好。</a:t>
            </a:r>
            <a:endParaRPr lang="en-US" sz="1200" b="0" i="0" u="none" strike="noStrike">
              <a:solidFill>
                <a:srgbClr val="AAAAA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开发规范与总结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82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320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代码风格规范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794000"/>
            <a:ext cx="4597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▌ 命名规则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类名采用大驼峰，方法与变量使用小驼峰，常量统一为全大写配合下划线分割，保持语义化清晰。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▌ 格式标准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统一使用2个空格缩进，限制单行代码长度不超过120个字符，确保代码在不同显示器上都有良好的可读性。</a:t>
            </a:r>
            <a:endParaRPr lang="en-US" sz="1300" b="0" i="0" u="none" strike="noStrike">
              <a:solidFill>
                <a:srgbClr val="CCCCC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▌ 注释与工具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所有类定义和对外暴露的公共方法必须添加标准的JSDoc注释。强制接入Prettier进行代码自动格式化，消除风格差异。</a:t>
            </a:r>
            <a:endParaRPr lang="en-US" sz="1300" b="0" i="0" u="none" strike="noStrike">
              <a:solidFill>
                <a:srgbClr val="CCCCC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828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35800" y="20320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代码设计规范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27800" y="2794000"/>
            <a:ext cx="4597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核心设计原则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在架构设计与功能开发中，严格遵循“单一职责原则”与“依赖倒置原则”，降低系统耦合度，提高模块复用性与可维护性。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▌ 统一异常处理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封装了通用的异常基类，配合全局异常处理器统一拦截，确保前端能收到格式一致的错误信息，提升用户体验。</a:t>
            </a:r>
            <a:endParaRPr lang="en-US" sz="1300" b="0" i="0" u="none" strike="noStrike">
              <a:solidFill>
                <a:srgbClr val="CCCCC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▌ 分级日志体系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规范了DEBUG、INFO、WARN、ERROR四个级别的日志输出场景，便于开发调试与线上问题的快速定位与排查。</a:t>
            </a:r>
            <a:endParaRPr lang="en-US" sz="1300" b="0" i="0" u="none" strike="noStrike">
              <a:solidFill>
                <a:srgbClr val="CCCCC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开发规范与总结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B2B2B">
              <a:alpha val="100000"/>
            </a:srgbClr>
          </a:solidFill>
          <a:ln w="12700" cap="flat" cmpd="sng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总结与反思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984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984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35560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成功设计并实现了集成于Juice Shop的AI安全挑战插件，验证了技术方案的可行性。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984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91000" y="2984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AI协作价值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35560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在提供初步技术方案、生成代码框架和UML图方面提供了高效支持，显著降低门槛。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572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4762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14500" y="4762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批判性思维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06500" y="53340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对AI建议坚持“理解、批判、改进”，规避潜在风险，确保架构与成本决策符合实际。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92500" y="4572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4762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91000" y="4762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安全第一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83000" y="53340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始终将安全性作为首要考量，在设计与开发的全流程中严格遵循安全编码规范。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B2B2B">
              <a:alpha val="100000"/>
            </a:srgbClr>
          </a:solidFill>
          <a:ln w="12700" cap="flat" cmpd="sng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核心数据汇总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2794000"/>
            <a:ext cx="1524000" cy="1651000"/>
          </a:xfrm>
          <a:prstGeom prst="roundRect">
            <a:avLst>
              <a:gd name="adj" fmla="val 6666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048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60%+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810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架构调整后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开发效率提升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2794000"/>
            <a:ext cx="1524000" cy="1651000"/>
          </a:xfrm>
          <a:prstGeom prst="roundRect">
            <a:avLst>
              <a:gd name="adj" fmla="val 6666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28000" y="3048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O(n)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3810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提示注入检测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算法时间复杂度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779000" y="2794000"/>
            <a:ext cx="1524000" cy="1651000"/>
          </a:xfrm>
          <a:prstGeom prst="roundRect">
            <a:avLst>
              <a:gd name="adj" fmla="val 6666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779000" y="3048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&lt; 1ms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779000" y="3810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单条输入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平均检测时间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02500" y="4572000"/>
            <a:ext cx="2032000" cy="1524000"/>
          </a:xfrm>
          <a:prstGeom prst="roundRect">
            <a:avLst>
              <a:gd name="adj" fmla="val 6666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302500" y="4826000"/>
            <a:ext cx="203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320ms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302500" y="546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原型平均响应时间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461500" y="4572000"/>
            <a:ext cx="2032000" cy="1524000"/>
          </a:xfrm>
          <a:prstGeom prst="roundRect">
            <a:avLst>
              <a:gd name="adj" fmla="val 6666"/>
            </a:avLst>
          </a:prstGeom>
          <a:solidFill>
            <a:srgbClr val="363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461500" y="4826000"/>
            <a:ext cx="203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461500" y="546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典型Payload注入成功率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5443</Words>
  <Application>WPS 演示</Application>
  <PresentationFormat/>
  <Paragraphs>378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闲云</cp:lastModifiedBy>
  <cp:revision>2</cp:revision>
  <dcterms:created xsi:type="dcterms:W3CDTF">2026-05-05T13:27:00Z</dcterms:created>
  <dcterms:modified xsi:type="dcterms:W3CDTF">2026-05-05T13:27:32Z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CF76436B43C040258D74EBAF76A75D4D_12</vt:lpwstr>
  </property>
</Properties>
</file>